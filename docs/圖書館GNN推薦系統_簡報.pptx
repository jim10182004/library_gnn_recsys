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2C39A"/>
                </a:solidFill>
                <a:latin typeface="Microsoft JhengHei"/>
              </a:rPr>
              <a:t>基於圖神經網路之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Microsoft JhengHei"/>
              </a:rPr>
              <a:t>市立圖書館書籍推薦系統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118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F4FBFA"/>
                </a:solidFill>
                <a:latin typeface="Microsoft JhengHei"/>
              </a:rPr>
              <a:t>Graph Neural Network for Library Book Recommendation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4FBFA"/>
                </a:solidFill>
                <a:latin typeface="Microsoft JhengHei"/>
              </a:rPr>
              <a:t>[學校名]  |  畢業專題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1206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4FBFA"/>
                </a:solidFill>
                <a:latin typeface="Microsoft JhengHei"/>
              </a:rPr>
              <a:t>作者：[你的名字]   指導教授：[教授名字]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864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4FBFA"/>
                </a:solidFill>
                <a:latin typeface="Microsoft JhengHei"/>
              </a:rPr>
              <a:t>完成日期：2026 年 5 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5120640"/>
            <a:ext cx="2926080" cy="502920"/>
          </a:xfrm>
          <a:prstGeom prst="roundRect">
            <a:avLst>
              <a:gd name="adj" fmla="val 8000"/>
            </a:avLst>
          </a:prstGeom>
          <a:solidFill>
            <a:srgbClr val="02C39A"/>
          </a:solidFill>
          <a:ln>
            <a:solidFill>
              <a:srgbClr val="02C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0" y="516636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2B33"/>
                </a:solidFill>
                <a:latin typeface="Microsoft JhengHei"/>
              </a:rPr>
              <a:t>LightGCN  |  SIGIR 2020 SOTA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4FBFA"/>
                </a:solidFill>
                <a:latin typeface="Microsoft JhengHei"/>
              </a:rPr>
              <a:t>圖書館 GNN 推薦系統  |  畢業專題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F4FBFA"/>
                </a:solidFill>
                <a:latin typeface="Microsoft JhengHei"/>
              </a:rPr>
              <a:t>1 / 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28090"/>
                </a:solidFill>
                <a:latin typeface="Microsoft JhengHei"/>
              </a:rPr>
              <a:t>簡報大綱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C7A80"/>
                </a:solidFill>
                <a:latin typeface="Microsoft JhengHei"/>
              </a:rPr>
              <a:t>Outline of this presentation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3810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2606040" cy="1463040"/>
          </a:xfrm>
          <a:prstGeom prst="roundRect">
            <a:avLst>
              <a:gd name="adj" fmla="val 8000"/>
            </a:avLst>
          </a:prstGeom>
          <a:solidFill>
            <a:srgbClr val="F4FBFA"/>
          </a:solidFill>
          <a:ln w="254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13232" y="1993392"/>
            <a:ext cx="585216" cy="585216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084832"/>
            <a:ext cx="58521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Jheng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A2B33"/>
                </a:solidFill>
                <a:latin typeface="Microsoft JhengHei"/>
              </a:rPr>
              <a:t>研究動機 與 RQ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828800"/>
            <a:ext cx="2606040" cy="1463040"/>
          </a:xfrm>
          <a:prstGeom prst="roundRect">
            <a:avLst>
              <a:gd name="adj" fmla="val 8000"/>
            </a:avLst>
          </a:prstGeom>
          <a:solidFill>
            <a:srgbClr val="F4FBFA"/>
          </a:solidFill>
          <a:ln w="254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502152" y="1993392"/>
            <a:ext cx="585216" cy="585216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02152" y="2084832"/>
            <a:ext cx="58521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Jheng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6974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A2B33"/>
                </a:solidFill>
                <a:latin typeface="Microsoft JhengHei"/>
              </a:rPr>
              <a:t>資料來源與規模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79" y="1828800"/>
            <a:ext cx="2606040" cy="1463040"/>
          </a:xfrm>
          <a:prstGeom prst="roundRect">
            <a:avLst>
              <a:gd name="adj" fmla="val 8000"/>
            </a:avLst>
          </a:prstGeom>
          <a:solidFill>
            <a:srgbClr val="F4FBFA"/>
          </a:solidFill>
          <a:ln w="25400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291071" y="1993392"/>
            <a:ext cx="585216" cy="585216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91071" y="2084832"/>
            <a:ext cx="58521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Jheng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79" y="26974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A2B33"/>
                </a:solidFill>
                <a:latin typeface="Microsoft JhengHei"/>
              </a:rPr>
              <a:t>六個模型的設計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399" y="1828800"/>
            <a:ext cx="2606040" cy="1463040"/>
          </a:xfrm>
          <a:prstGeom prst="roundRect">
            <a:avLst>
              <a:gd name="adj" fmla="val 8000"/>
            </a:avLst>
          </a:prstGeom>
          <a:solidFill>
            <a:srgbClr val="F4FBFA"/>
          </a:solidFill>
          <a:ln w="25400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079991" y="1993392"/>
            <a:ext cx="585216" cy="585216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79991" y="2084832"/>
            <a:ext cx="58521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Jheng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3999" y="26974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A2B33"/>
                </a:solidFill>
                <a:latin typeface="Microsoft JhengHei"/>
              </a:rPr>
              <a:t>實驗結果比較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520440"/>
            <a:ext cx="2606040" cy="1463040"/>
          </a:xfrm>
          <a:prstGeom prst="roundRect">
            <a:avLst>
              <a:gd name="adj" fmla="val 8000"/>
            </a:avLst>
          </a:prstGeom>
          <a:solidFill>
            <a:srgbClr val="F4FBFA"/>
          </a:solidFill>
          <a:ln w="25400">
            <a:solidFill>
              <a:srgbClr val="02C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3232" y="3685032"/>
            <a:ext cx="585216" cy="585216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3776472"/>
            <a:ext cx="58521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Jheng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38912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A2B33"/>
                </a:solidFill>
                <a:latin typeface="Microsoft JhengHei"/>
              </a:rPr>
              <a:t>視覺化分析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37560" y="3520440"/>
            <a:ext cx="2606040" cy="1463040"/>
          </a:xfrm>
          <a:prstGeom prst="roundRect">
            <a:avLst>
              <a:gd name="adj" fmla="val 8000"/>
            </a:avLst>
          </a:prstGeom>
          <a:solidFill>
            <a:srgbClr val="F4FBFA"/>
          </a:solidFill>
          <a:ln w="25400">
            <a:solidFill>
              <a:srgbClr val="02C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502152" y="3685032"/>
            <a:ext cx="585216" cy="585216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3776472"/>
            <a:ext cx="58521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JhengHei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438912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A2B33"/>
                </a:solidFill>
                <a:latin typeface="Microsoft JhengHei"/>
              </a:rPr>
              <a:t>Demo 與案例研究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26479" y="3520440"/>
            <a:ext cx="2606040" cy="1463040"/>
          </a:xfrm>
          <a:prstGeom prst="roundRect">
            <a:avLst>
              <a:gd name="adj" fmla="val 8000"/>
            </a:avLst>
          </a:prstGeom>
          <a:solidFill>
            <a:srgbClr val="F4FBFA"/>
          </a:solidFill>
          <a:ln w="254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291071" y="3685032"/>
            <a:ext cx="585216" cy="585216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91071" y="3776472"/>
            <a:ext cx="58521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JhengHei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79" y="438912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A2B33"/>
                </a:solidFill>
                <a:latin typeface="Microsoft JhengHei"/>
              </a:rPr>
              <a:t>結論與未來工作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C7A80"/>
                </a:solidFill>
                <a:latin typeface="Microsoft JhengHei"/>
              </a:rPr>
              <a:t>圖書館 GNN 推薦系統  |  畢業專題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C7A80"/>
                </a:solidFill>
                <a:latin typeface="Microsoft JhengHei"/>
              </a:rPr>
              <a:t>2 /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28090"/>
                </a:solidFill>
                <a:latin typeface="Microsoft JhengHei"/>
              </a:rPr>
              <a:t>研究動機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C7A80"/>
                </a:solidFill>
                <a:latin typeface="Microsoft JhengHei"/>
              </a:rPr>
              <a:t>為什麼選 GNN 而不是 RFM / 傳統 CF？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3810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28090"/>
                </a:solidFill>
                <a:latin typeface="Microsoft JhengHei"/>
              </a:rPr>
              <a:t>問題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55778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1A2B33"/>
                </a:solidFill>
                <a:latin typeface="Microsoft JhengHei"/>
              </a:rPr>
              <a:t>• 圖書館擁有大量借閱紀錄，但缺乏個人化推薦</a:t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1A2B33"/>
                </a:solidFill>
                <a:latin typeface="Microsoft JhengHei"/>
              </a:rPr>
              <a:t>• 讀者面對 10 萬本書，難以發現新書</a:t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1A2B33"/>
                </a:solidFill>
                <a:latin typeface="Microsoft JhengHei"/>
              </a:rPr>
              <a:t>• 「熱門書展」一視同仁，忽略個別差異</a:t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1A2B33"/>
                </a:solidFill>
                <a:latin typeface="Microsoft JhengHei"/>
              </a:rPr>
              <a:t>• 業界（Netflix / Amazon）早就常態化推薦</a:t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1A2B33"/>
                </a:solidFill>
                <a:latin typeface="Microsoft JhengHei"/>
              </a:rPr>
              <a:t>• 學術圖書館在這方面明顯落後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2C39A"/>
                </a:solidFill>
                <a:latin typeface="Microsoft JhengHei"/>
              </a:rPr>
              <a:t>本研究的選擇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331720"/>
            <a:ext cx="52120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02C39A"/>
                </a:solidFill>
                <a:latin typeface="Microsoft JhengHei"/>
              </a:rPr>
              <a:t>• 圖神經網路（GNN）</a:t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1A2B33"/>
                </a:solidFill>
                <a:latin typeface="Microsoft JhengHei"/>
              </a:rPr>
              <a:t>• 近年推薦系統 SOTA（SIGIR 2020+）</a:t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1A2B33"/>
                </a:solidFill>
                <a:latin typeface="Microsoft JhengHei"/>
              </a:rPr>
              <a:t>• 在台灣大學部畢業專題很罕見</a:t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1A2B33"/>
                </a:solidFill>
                <a:latin typeface="Microsoft JhengHei"/>
              </a:rPr>
              <a:t>• 視覺化結果非常炫（t-SNE 嵌入）</a:t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1A2B33"/>
                </a:solidFill>
                <a:latin typeface="Microsoft JhengHei"/>
              </a:rPr>
              <a:t>• 可結合深度學習 + 圖論 + 推薦三大領域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577840"/>
            <a:ext cx="11064240" cy="64008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650992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JhengHei"/>
              </a:rPr>
              <a:t>走少人做的路 → 用 LightGCN 取代傳統 RFM / CF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C7A80"/>
                </a:solidFill>
                <a:latin typeface="Microsoft JhengHei"/>
              </a:rPr>
              <a:t>圖書館 GNN 推薦系統  |  畢業專題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C7A80"/>
                </a:solidFill>
                <a:latin typeface="Microsoft JhengHei"/>
              </a:rPr>
              <a:t>3 /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28090"/>
                </a:solidFill>
                <a:latin typeface="Microsoft JhengHei"/>
              </a:rPr>
              <a:t>三個研究問題（RQ）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C7A80"/>
                </a:solidFill>
                <a:latin typeface="Microsoft JhengHei"/>
              </a:rPr>
              <a:t>本簡報後續會逐一回答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3810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11064240" cy="1234440"/>
          </a:xfrm>
          <a:prstGeom prst="roundRect">
            <a:avLst>
              <a:gd name="adj" fmla="val 8000"/>
            </a:avLst>
          </a:prstGeom>
          <a:solidFill>
            <a:srgbClr val="F4FBFA"/>
          </a:solidFill>
          <a:ln w="254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94360" y="2057400"/>
            <a:ext cx="822960" cy="82296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24028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JhengHei"/>
              </a:rPr>
              <a:t>RQ1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075688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1A2B33"/>
                </a:solidFill>
                <a:latin typeface="Microsoft JhengHei"/>
              </a:rPr>
              <a:t>圖神經網路（LightGCN）在圖書館借閱資料上
是否能勝過傳統推薦方法？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46120"/>
            <a:ext cx="11064240" cy="1234440"/>
          </a:xfrm>
          <a:prstGeom prst="roundRect">
            <a:avLst>
              <a:gd name="adj" fmla="val 8000"/>
            </a:avLst>
          </a:prstGeom>
          <a:solidFill>
            <a:srgbClr val="F4FBFA"/>
          </a:solidFill>
          <a:ln w="25400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94360" y="3474720"/>
            <a:ext cx="822960" cy="822960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65760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JhengHei"/>
              </a:rPr>
              <a:t>RQ2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493008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1A2B33"/>
                </a:solidFill>
                <a:latin typeface="Microsoft JhengHei"/>
              </a:rPr>
              <a:t>加入讀者人口統計與書籍類別等側資訊，
對 GNN 推薦表現的影響為何？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663440"/>
            <a:ext cx="11064240" cy="1234440"/>
          </a:xfrm>
          <a:prstGeom prst="roundRect">
            <a:avLst>
              <a:gd name="adj" fmla="val 8000"/>
            </a:avLst>
          </a:prstGeom>
          <a:solidFill>
            <a:srgbClr val="F4FBFA"/>
          </a:solidFill>
          <a:ln w="25400">
            <a:solidFill>
              <a:srgbClr val="02C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94360" y="4892040"/>
            <a:ext cx="822960" cy="82296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507492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JhengHei"/>
              </a:rPr>
              <a:t>RQ3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4910328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1A2B33"/>
                </a:solidFill>
                <a:latin typeface="Microsoft JhengHei"/>
              </a:rPr>
              <a:t>將預約訊號以較弱權重加入圖中，
是否能進一步改善推薦品質？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C7A80"/>
                </a:solidFill>
                <a:latin typeface="Microsoft JhengHei"/>
              </a:rPr>
              <a:t>圖書館 GNN 推薦系統  |  畢業專題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C7A80"/>
                </a:solidFill>
                <a:latin typeface="Microsoft JhengHei"/>
              </a:rPr>
              <a:t>4 /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28090"/>
                </a:solidFill>
                <a:latin typeface="Microsoft JhengHei"/>
              </a:rPr>
              <a:t>資料來源與規模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C7A80"/>
                </a:solidFill>
                <a:latin typeface="Microsoft JhengHei"/>
              </a:rPr>
              <a:t>某市立圖書館 2025 年完整年度資料（資料來源已去識別化）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3810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2606040" cy="146304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2606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Microsoft JhengHei"/>
              </a:rPr>
              <a:t>130 萬+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Microsoft JhengHei"/>
              </a:rPr>
              <a:t>借閱紀錄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828800"/>
            <a:ext cx="2606040" cy="1463040"/>
          </a:xfrm>
          <a:prstGeom prst="roundRect">
            <a:avLst>
              <a:gd name="adj" fmla="val 8000"/>
            </a:avLst>
          </a:prstGeom>
          <a:solidFill>
            <a:srgbClr val="00A896"/>
          </a:solidFill>
          <a:ln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965960"/>
            <a:ext cx="2606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Microsoft JhengHei"/>
              </a:rPr>
              <a:t>32 萬+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74320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Microsoft JhengHei"/>
              </a:rPr>
              <a:t>預約紀錄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28800"/>
            <a:ext cx="2606040" cy="1463040"/>
          </a:xfrm>
          <a:prstGeom prst="roundRect">
            <a:avLst>
              <a:gd name="adj" fmla="val 8000"/>
            </a:avLst>
          </a:prstGeom>
          <a:solidFill>
            <a:srgbClr val="02C39A"/>
          </a:solidFill>
          <a:ln>
            <a:solidFill>
              <a:srgbClr val="02C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965960"/>
            <a:ext cx="2606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Microsoft JhengHei"/>
              </a:rPr>
              <a:t>10.9 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74320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Microsoft JhengHei"/>
              </a:rPr>
              <a:t>獨立讀者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1828800"/>
            <a:ext cx="2606040" cy="146304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1965960"/>
            <a:ext cx="2606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Microsoft JhengHei"/>
              </a:rPr>
              <a:t>10.6 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274320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Microsoft JhengHei"/>
              </a:rPr>
              <a:t>獨立書籍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749039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2B33"/>
                </a:solidFill>
                <a:latin typeface="Microsoft JhengHei"/>
              </a:rPr>
              <a:t>K-core 過濾後（每位 user / item 至少 5 個互動）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160520"/>
            <a:ext cx="73152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A2B33"/>
                </a:solidFill>
                <a:latin typeface="Microsoft JhengHei"/>
              </a:rPr>
              <a:t>• 讀者 109,790 → 35,856（僅留活躍讀者）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1A2B33"/>
                </a:solidFill>
                <a:latin typeface="Microsoft JhengHei"/>
              </a:rPr>
              <a:t>• 書籍 105,957 → 29,685（僅留有人借的書）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1A2B33"/>
                </a:solidFill>
                <a:latin typeface="Microsoft JhengHei"/>
              </a:rPr>
              <a:t>• 互動 816,119 → 525,288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1A2B33"/>
                </a:solidFill>
                <a:latin typeface="Microsoft JhengHei"/>
              </a:rPr>
              <a:t>• 矩陣密度 0.049%（典型推薦稀疏問題）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749039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2B33"/>
                </a:solidFill>
                <a:latin typeface="Microsoft JhengHei"/>
              </a:rPr>
              <a:t>時間序列切分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160520"/>
            <a:ext cx="36576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A2B33"/>
                </a:solidFill>
                <a:latin typeface="Microsoft JhengHei"/>
              </a:rPr>
              <a:t>• Train: 2025-01 ~ 10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1A2B33"/>
                </a:solidFill>
                <a:latin typeface="Microsoft JhengHei"/>
              </a:rPr>
              <a:t>• Val:   2025-11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1A2B33"/>
                </a:solidFill>
                <a:latin typeface="Microsoft JhengHei"/>
              </a:rPr>
              <a:t>• Test:  2025-12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1A2B33"/>
                </a:solidFill>
                <a:latin typeface="Microsoft JhengHei"/>
              </a:rPr>
              <a:t>• 避免「看到未來」資料洩漏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C7A80"/>
                </a:solidFill>
                <a:latin typeface="Microsoft JhengHei"/>
              </a:rPr>
              <a:t>圖書館 GNN 推薦系統  |  畢業專題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C7A80"/>
                </a:solidFill>
                <a:latin typeface="Microsoft JhengHei"/>
              </a:rPr>
              <a:t>5 /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28090"/>
                </a:solidFill>
                <a:latin typeface="Microsoft JhengHei"/>
              </a:rPr>
              <a:t>系統架構與流程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C7A80"/>
                </a:solidFill>
                <a:latin typeface="Microsoft JhengHei"/>
              </a:rPr>
              <a:t>完整 pipeline 八大階段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3810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1325880" cy="1828800"/>
          </a:xfrm>
          <a:prstGeom prst="roundRect">
            <a:avLst>
              <a:gd name="adj" fmla="val 8000"/>
            </a:avLst>
          </a:prstGeom>
          <a:solidFill>
            <a:srgbClr val="F4FBFA"/>
          </a:solidFill>
          <a:ln w="254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54380" y="2331720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94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1143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A2B33"/>
                </a:solidFill>
                <a:latin typeface="Microsoft JhengHei"/>
              </a:rPr>
              <a:t>資料前處理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691640" y="3200400"/>
            <a:ext cx="137160" cy="182880"/>
          </a:xfrm>
          <a:prstGeom prst="rightArrow">
            <a:avLst/>
          </a:prstGeom>
          <a:solidFill>
            <a:srgbClr val="6C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828800" y="2286000"/>
            <a:ext cx="1325880" cy="1828800"/>
          </a:xfrm>
          <a:prstGeom prst="roundRect">
            <a:avLst>
              <a:gd name="adj" fmla="val 8000"/>
            </a:avLst>
          </a:prstGeom>
          <a:solidFill>
            <a:srgbClr val="F4FBFA"/>
          </a:solidFill>
          <a:ln w="25400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217420" y="2331720"/>
            <a:ext cx="548640" cy="548640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94560" y="2468880"/>
            <a:ext cx="594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3108960"/>
            <a:ext cx="1143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A2B33"/>
                </a:solidFill>
                <a:latin typeface="Microsoft JhengHei"/>
              </a:rPr>
              <a:t>EDA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154680" y="3200400"/>
            <a:ext cx="137160" cy="182880"/>
          </a:xfrm>
          <a:prstGeom prst="rightArrow">
            <a:avLst/>
          </a:prstGeom>
          <a:solidFill>
            <a:srgbClr val="6C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291840" y="2286000"/>
            <a:ext cx="1325880" cy="1828800"/>
          </a:xfrm>
          <a:prstGeom prst="roundRect">
            <a:avLst>
              <a:gd name="adj" fmla="val 8000"/>
            </a:avLst>
          </a:prstGeom>
          <a:solidFill>
            <a:srgbClr val="F4FBFA"/>
          </a:solidFill>
          <a:ln w="25400">
            <a:solidFill>
              <a:srgbClr val="02C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80460" y="2331720"/>
            <a:ext cx="548640" cy="54864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2468880"/>
            <a:ext cx="594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3108960"/>
            <a:ext cx="1143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A2B33"/>
                </a:solidFill>
                <a:latin typeface="Microsoft JhengHei"/>
              </a:rPr>
              <a:t>k-core 過濾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617720" y="3200400"/>
            <a:ext cx="137160" cy="182880"/>
          </a:xfrm>
          <a:prstGeom prst="rightArrow">
            <a:avLst/>
          </a:prstGeom>
          <a:solidFill>
            <a:srgbClr val="6C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754880" y="2286000"/>
            <a:ext cx="1325880" cy="1828800"/>
          </a:xfrm>
          <a:prstGeom prst="roundRect">
            <a:avLst>
              <a:gd name="adj" fmla="val 8000"/>
            </a:avLst>
          </a:prstGeom>
          <a:solidFill>
            <a:srgbClr val="F4FBFA"/>
          </a:solidFill>
          <a:ln w="254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43500" y="2331720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0" y="2468880"/>
            <a:ext cx="594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3108960"/>
            <a:ext cx="1143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A2B33"/>
                </a:solidFill>
                <a:latin typeface="Microsoft JhengHei"/>
              </a:rPr>
              <a:t>Train/Val/Test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6080760" y="3200400"/>
            <a:ext cx="137160" cy="182880"/>
          </a:xfrm>
          <a:prstGeom prst="rightArrow">
            <a:avLst/>
          </a:prstGeom>
          <a:solidFill>
            <a:srgbClr val="6C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17920" y="2286000"/>
            <a:ext cx="1325880" cy="1828800"/>
          </a:xfrm>
          <a:prstGeom prst="roundRect">
            <a:avLst>
              <a:gd name="adj" fmla="val 8000"/>
            </a:avLst>
          </a:prstGeom>
          <a:solidFill>
            <a:srgbClr val="F4FBFA"/>
          </a:solidFill>
          <a:ln w="25400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06540" y="2331720"/>
            <a:ext cx="548640" cy="548640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2468880"/>
            <a:ext cx="594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3108960"/>
            <a:ext cx="1143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A2B33"/>
                </a:solidFill>
                <a:latin typeface="Microsoft JhengHei"/>
              </a:rPr>
              <a:t>訓練 6 模型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7543800" y="3200400"/>
            <a:ext cx="137160" cy="182880"/>
          </a:xfrm>
          <a:prstGeom prst="rightArrow">
            <a:avLst/>
          </a:prstGeom>
          <a:solidFill>
            <a:srgbClr val="6C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680960" y="2286000"/>
            <a:ext cx="1325880" cy="1828800"/>
          </a:xfrm>
          <a:prstGeom prst="roundRect">
            <a:avLst>
              <a:gd name="adj" fmla="val 8000"/>
            </a:avLst>
          </a:prstGeom>
          <a:solidFill>
            <a:srgbClr val="F4FBFA"/>
          </a:solidFill>
          <a:ln w="25400">
            <a:solidFill>
              <a:srgbClr val="02C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069580" y="2331720"/>
            <a:ext cx="548640" cy="54864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20" y="2468880"/>
            <a:ext cx="594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3108960"/>
            <a:ext cx="1143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A2B33"/>
                </a:solidFill>
                <a:latin typeface="Microsoft JhengHei"/>
              </a:rPr>
              <a:t>評估指標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9006840" y="3200400"/>
            <a:ext cx="137160" cy="182880"/>
          </a:xfrm>
          <a:prstGeom prst="rightArrow">
            <a:avLst/>
          </a:prstGeom>
          <a:solidFill>
            <a:srgbClr val="6C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44000" y="2286000"/>
            <a:ext cx="1325880" cy="1828800"/>
          </a:xfrm>
          <a:prstGeom prst="roundRect">
            <a:avLst>
              <a:gd name="adj" fmla="val 8000"/>
            </a:avLst>
          </a:prstGeom>
          <a:solidFill>
            <a:srgbClr val="F4FBFA"/>
          </a:solidFill>
          <a:ln w="254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532620" y="2331720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09760" y="2468880"/>
            <a:ext cx="594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5440" y="3108960"/>
            <a:ext cx="1143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A2B33"/>
                </a:solidFill>
                <a:latin typeface="Microsoft JhengHei"/>
              </a:rPr>
              <a:t>視覺化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10469880" y="3200400"/>
            <a:ext cx="137160" cy="182880"/>
          </a:xfrm>
          <a:prstGeom prst="rightArrow">
            <a:avLst/>
          </a:prstGeom>
          <a:solidFill>
            <a:srgbClr val="6C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0607040" y="2286000"/>
            <a:ext cx="1325880" cy="1828800"/>
          </a:xfrm>
          <a:prstGeom prst="roundRect">
            <a:avLst>
              <a:gd name="adj" fmla="val 8000"/>
            </a:avLst>
          </a:prstGeom>
          <a:solidFill>
            <a:srgbClr val="F4FBFA"/>
          </a:solidFill>
          <a:ln w="25400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995660" y="2331720"/>
            <a:ext cx="548640" cy="548640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972800" y="2468880"/>
            <a:ext cx="594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98480" y="3108960"/>
            <a:ext cx="1143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A2B33"/>
                </a:solidFill>
                <a:latin typeface="Microsoft JhengHei"/>
              </a:rPr>
              <a:t>Demo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4754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28090"/>
                </a:solidFill>
                <a:latin typeface="Microsoft JhengHei"/>
              </a:rPr>
              <a:t>六個模型階段性比較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521208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A2B33"/>
                </a:solidFill>
                <a:latin typeface="Microsoft JhengHei"/>
              </a:rPr>
              <a:t>• Baseline 三件組：Popular（最簡）→ ItemCF（傳統 CF）→ BPR-MF（深度 MF）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1A2B33"/>
                </a:solidFill>
                <a:latin typeface="Microsoft JhengHei"/>
              </a:rPr>
              <a:t>• GNN 主軸三步：LightGCN（純圖）→ LightGCN-SI（加側資訊）→ LightGCN-Multi（加預約邊）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C7A80"/>
                </a:solidFill>
                <a:latin typeface="Microsoft JhengHei"/>
              </a:rPr>
              <a:t>圖書館 GNN 推薦系統  |  畢業專題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C7A80"/>
                </a:solidFill>
                <a:latin typeface="Microsoft JhengHei"/>
              </a:rPr>
              <a:t>6 /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28090"/>
                </a:solidFill>
                <a:latin typeface="Microsoft JhengHei"/>
              </a:rPr>
              <a:t>11 個模型實作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C7A80"/>
                </a:solidFill>
                <a:latin typeface="Microsoft JhengHei"/>
              </a:rPr>
              <a:t>3 個基線 + 8 個 GNN/序列變體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3810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691640"/>
            <a:ext cx="3840480" cy="1097280"/>
          </a:xfrm>
          <a:prstGeom prst="roundRect">
            <a:avLst>
              <a:gd name="adj" fmla="val 8000"/>
            </a:avLst>
          </a:prstGeom>
          <a:solidFill>
            <a:srgbClr val="F4FBFA"/>
          </a:solidFill>
          <a:ln w="25400">
            <a:solidFill>
              <a:srgbClr val="6C7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5564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2B33"/>
                </a:solidFill>
                <a:latin typeface="Microsoft JhengHei"/>
              </a:rPr>
              <a:t>Popular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57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C7A80"/>
                </a:solidFill>
                <a:latin typeface="Microsoft JhengHei"/>
              </a:rPr>
              <a:t>基線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2B33"/>
                </a:solidFill>
                <a:latin typeface="Microsoft JhengHei"/>
              </a:rPr>
              <a:t>最熱門書
全民推薦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91640"/>
            <a:ext cx="3840480" cy="1097280"/>
          </a:xfrm>
          <a:prstGeom prst="roundRect">
            <a:avLst>
              <a:gd name="adj" fmla="val 8000"/>
            </a:avLst>
          </a:prstGeom>
          <a:solidFill>
            <a:srgbClr val="F4FBFA"/>
          </a:solidFill>
          <a:ln w="25400">
            <a:solidFill>
              <a:srgbClr val="6C7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75564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2B33"/>
                </a:solidFill>
                <a:latin typeface="Microsoft JhengHei"/>
              </a:rPr>
              <a:t>ItemCF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057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C7A80"/>
                </a:solidFill>
                <a:latin typeface="Microsoft JhengHei"/>
              </a:rPr>
              <a:t>基線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28600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2B33"/>
                </a:solidFill>
                <a:latin typeface="Microsoft JhengHei"/>
              </a:rPr>
              <a:t>Item-based CF
Cosine 相似度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1691640"/>
            <a:ext cx="3840480" cy="1097280"/>
          </a:xfrm>
          <a:prstGeom prst="roundRect">
            <a:avLst>
              <a:gd name="adj" fmla="val 8000"/>
            </a:avLst>
          </a:prstGeom>
          <a:solidFill>
            <a:srgbClr val="F4FBFA"/>
          </a:solidFill>
          <a:ln w="25400">
            <a:solidFill>
              <a:srgbClr val="6C7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9640" y="175564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2B33"/>
                </a:solidFill>
                <a:latin typeface="Microsoft JhengHei"/>
              </a:rPr>
              <a:t>BPR-MF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057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C7A80"/>
                </a:solidFill>
                <a:latin typeface="Microsoft JhengHei"/>
              </a:rPr>
              <a:t>基線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228600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2B33"/>
                </a:solidFill>
                <a:latin typeface="Microsoft JhengHei"/>
              </a:rPr>
              <a:t>Matrix Factorization
+ BPR Loss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435840" y="1691640"/>
            <a:ext cx="3840480" cy="1097280"/>
          </a:xfrm>
          <a:prstGeom prst="roundRect">
            <a:avLst>
              <a:gd name="adj" fmla="val 8000"/>
            </a:avLst>
          </a:prstGeom>
          <a:solidFill>
            <a:srgbClr val="F4FBFA"/>
          </a:solidFill>
          <a:ln w="254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573000" y="175564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2B33"/>
                </a:solidFill>
                <a:latin typeface="Microsoft JhengHei"/>
              </a:rPr>
              <a:t>NGCF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73000" y="2057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C7A80"/>
                </a:solidFill>
                <a:latin typeface="Microsoft JhengHei"/>
              </a:rPr>
              <a:t>GNN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573000" y="228600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2B33"/>
                </a:solidFill>
                <a:latin typeface="Microsoft JhengHei"/>
              </a:rPr>
              <a:t>GCN + W + ReLU
(LightGCN 對照)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2926080"/>
            <a:ext cx="3840480" cy="109728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 w="254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299008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LightGCN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2918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F4FBFA"/>
                </a:solidFill>
                <a:latin typeface="Microsoft JhengHei"/>
              </a:rPr>
              <a:t>★ 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52044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Microsoft JhengHei"/>
              </a:rPr>
              <a:t>二部圖純卷積
3 層平均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2926080"/>
            <a:ext cx="3840480" cy="1097280"/>
          </a:xfrm>
          <a:prstGeom prst="roundRect">
            <a:avLst>
              <a:gd name="adj" fmla="val 8000"/>
            </a:avLst>
          </a:prstGeom>
          <a:solidFill>
            <a:srgbClr val="F4FBFA"/>
          </a:solidFill>
          <a:ln w="25400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26280" y="299008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2B33"/>
                </a:solidFill>
                <a:latin typeface="Microsoft JhengHei"/>
              </a:rPr>
              <a:t>LightGCN-SI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32918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C7A80"/>
                </a:solidFill>
                <a:latin typeface="Microsoft JhengHei"/>
              </a:rPr>
              <a:t>進階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352044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2B33"/>
                </a:solidFill>
                <a:latin typeface="Microsoft JhengHei"/>
              </a:rPr>
              <a:t>+ 性別/年齡
+ 書籍分類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12480" y="2926080"/>
            <a:ext cx="3840480" cy="1097280"/>
          </a:xfrm>
          <a:prstGeom prst="roundRect">
            <a:avLst>
              <a:gd name="adj" fmla="val 8000"/>
            </a:avLst>
          </a:prstGeom>
          <a:solidFill>
            <a:srgbClr val="02C39A"/>
          </a:solidFill>
          <a:ln w="25400">
            <a:solidFill>
              <a:srgbClr val="02C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49640" y="299008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LightGCN-Multi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49640" y="32918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F4FBFA"/>
                </a:solidFill>
                <a:latin typeface="Microsoft JhengHei"/>
              </a:rPr>
              <a:t>★ 最佳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9640" y="352044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Microsoft JhengHei"/>
              </a:rPr>
              <a:t>+ 預約多邊型
(w=1.0)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2435840" y="2926080"/>
            <a:ext cx="3840480" cy="1097280"/>
          </a:xfrm>
          <a:prstGeom prst="roundRect">
            <a:avLst>
              <a:gd name="adj" fmla="val 8000"/>
            </a:avLst>
          </a:prstGeom>
          <a:solidFill>
            <a:srgbClr val="F4FBFA"/>
          </a:solidFill>
          <a:ln w="25400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573000" y="299008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2B33"/>
                </a:solidFill>
                <a:latin typeface="Microsoft JhengHei"/>
              </a:rPr>
              <a:t>LightGCN-BERT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573000" y="32918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C7A80"/>
                </a:solidFill>
                <a:latin typeface="Microsoft JhengHei"/>
              </a:rPr>
              <a:t>進階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573000" y="352044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2B33"/>
                </a:solidFill>
                <a:latin typeface="Microsoft JhengHei"/>
              </a:rPr>
              <a:t>+ 中文 BERT
書名語意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65760" y="4160520"/>
            <a:ext cx="3840480" cy="1097280"/>
          </a:xfrm>
          <a:prstGeom prst="roundRect">
            <a:avLst>
              <a:gd name="adj" fmla="val 8000"/>
            </a:avLst>
          </a:prstGeom>
          <a:solidFill>
            <a:srgbClr val="F4FBFA"/>
          </a:solidFill>
          <a:ln w="25400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422452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2B33"/>
                </a:solidFill>
                <a:latin typeface="Microsoft JhengHei"/>
              </a:rPr>
              <a:t>LightGCN-Hetero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45262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C7A80"/>
                </a:solidFill>
                <a:latin typeface="Microsoft JhengHei"/>
              </a:rPr>
              <a:t>進階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475488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2B33"/>
                </a:solidFill>
                <a:latin typeface="Microsoft JhengHei"/>
              </a:rPr>
              <a:t>+ 作者節點
3 類異質圖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89120" y="4160520"/>
            <a:ext cx="3840480" cy="1097280"/>
          </a:xfrm>
          <a:prstGeom prst="roundRect">
            <a:avLst>
              <a:gd name="adj" fmla="val 8000"/>
            </a:avLst>
          </a:prstGeom>
          <a:solidFill>
            <a:srgbClr val="F4FBFA"/>
          </a:solidFill>
          <a:ln w="25400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26280" y="422452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2B33"/>
                </a:solidFill>
                <a:latin typeface="Microsoft JhengHei"/>
              </a:rPr>
              <a:t>LightGCN-TimeDecay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26280" y="45262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C7A80"/>
                </a:solidFill>
                <a:latin typeface="Microsoft JhengHei"/>
              </a:rPr>
              <a:t>進階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26280" y="475488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2B33"/>
                </a:solidFill>
                <a:latin typeface="Microsoft JhengHei"/>
              </a:rPr>
              <a:t>+ 時間衰減
邊權重 exp(-λt)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412480" y="4160520"/>
            <a:ext cx="3840480" cy="1097280"/>
          </a:xfrm>
          <a:prstGeom prst="roundRect">
            <a:avLst>
              <a:gd name="adj" fmla="val 8000"/>
            </a:avLst>
          </a:prstGeom>
          <a:solidFill>
            <a:srgbClr val="F4FBFA"/>
          </a:solidFill>
          <a:ln w="25400">
            <a:solidFill>
              <a:srgbClr val="6C7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49640" y="422452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2B33"/>
                </a:solidFill>
                <a:latin typeface="Microsoft JhengHei"/>
              </a:rPr>
              <a:t>SASRec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49640" y="45262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C7A80"/>
                </a:solidFill>
                <a:latin typeface="Microsoft JhengHei"/>
              </a:rPr>
              <a:t>對照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49640" y="475488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2B33"/>
                </a:solidFill>
                <a:latin typeface="Microsoft JhengHei"/>
              </a:rPr>
              <a:t>Transformer
序列推薦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C7A80"/>
                </a:solidFill>
                <a:latin typeface="Microsoft JhengHei"/>
              </a:rPr>
              <a:t>圖書館 GNN 推薦系統  |  畢業專題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C7A80"/>
                </a:solidFill>
                <a:latin typeface="Microsoft JhengHei"/>
              </a:rPr>
              <a:t>7 /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28090"/>
                </a:solidFill>
                <a:latin typeface="Microsoft JhengHei"/>
              </a:rPr>
              <a:t>LightGCN 核心公式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C7A80"/>
                </a:solidFill>
                <a:latin typeface="Microsoft JhengHei"/>
              </a:rPr>
              <a:t>He et al., SIGIR 2020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3810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28090"/>
                </a:solidFill>
                <a:latin typeface="Microsoft JhengHei"/>
              </a:rPr>
              <a:t>二部圖（Bipartite Graph）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54864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A2B33"/>
                </a:solidFill>
                <a:latin typeface="Consolas"/>
              </a:rPr>
              <a:t>讀者 ────借閱──── 書籍
  •───────•      •───────•
  •───────•      •───────•
  •───────•      •───────•
  •───────•      •───────•
 (35,856)        (29,685)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28090"/>
                </a:solidFill>
                <a:latin typeface="Microsoft JhengHei"/>
              </a:rPr>
              <a:t>層傳播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286000"/>
            <a:ext cx="5486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A2B33"/>
                </a:solidFill>
                <a:latin typeface="Consolas"/>
              </a:rPr>
              <a:t>e_u^(k+1) = Σ  1/√(|N(u)| · |N(i)|) · e_i^(k)
                i∈N(u)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2918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28090"/>
                </a:solidFill>
                <a:latin typeface="Microsoft JhengHei"/>
              </a:rPr>
              <a:t>層平均（最終 embedding）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703320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A2B33"/>
                </a:solidFill>
                <a:latin typeface="Consolas"/>
              </a:rPr>
              <a:t>e_u = (1 / (K+1)) · Σ  e_u^(k)
                       k=0..K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5262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28090"/>
                </a:solidFill>
                <a:latin typeface="Microsoft JhengHei"/>
              </a:rPr>
              <a:t>預測與訓練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93776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A2B33"/>
                </a:solidFill>
                <a:latin typeface="Consolas"/>
              </a:rPr>
              <a:t>score(u, i) = e_u · e_i  (內積)
L = -log σ(s_pos - s_neg)  (BPR loss)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623560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02C39A"/>
          </a:solidFill>
          <a:ln>
            <a:solidFill>
              <a:srgbClr val="02C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68756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1A2B33"/>
                </a:solidFill>
                <a:latin typeface="Microsoft JhengHei"/>
              </a:rPr>
              <a:t>去掉特徵變換 W 與激活函數 σ → 模型更輕量、更穩定，反而打敗 NGCF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C7A80"/>
                </a:solidFill>
                <a:latin typeface="Microsoft JhengHei"/>
              </a:rPr>
              <a:t>圖書館 GNN 推薦系統  |  畢業專題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C7A80"/>
                </a:solidFill>
                <a:latin typeface="Microsoft JhengHei"/>
              </a:rPr>
              <a:t>8 /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28090"/>
                </a:solidFill>
                <a:latin typeface="Microsoft JhengHei"/>
              </a:rPr>
              <a:t>實驗結果（Test Set，16 模型）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C7A80"/>
                </a:solidFill>
                <a:latin typeface="Microsoft JhengHei"/>
              </a:rPr>
              <a:t>Recall / NDCG / Hit / Coverage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3810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219456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64208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模型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1600200"/>
            <a:ext cx="146304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1664208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R@10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600200"/>
            <a:ext cx="146304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1664208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R@20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0" y="1600200"/>
            <a:ext cx="155448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664208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NDCG@10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23760" y="1600200"/>
            <a:ext cx="137160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0" y="1664208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Hit@10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95360" y="1600200"/>
            <a:ext cx="137160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1664208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Cov@10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1856232"/>
            <a:ext cx="2194560" cy="256032"/>
          </a:xfrm>
          <a:prstGeom prst="rect">
            <a:avLst/>
          </a:prstGeom>
          <a:solidFill>
            <a:srgbClr val="F4FBFA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192024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2B33"/>
                </a:solidFill>
                <a:latin typeface="Microsoft JhengHei"/>
              </a:rPr>
              <a:t>Popular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0" y="1856232"/>
            <a:ext cx="1463040" cy="256032"/>
          </a:xfrm>
          <a:prstGeom prst="rect">
            <a:avLst/>
          </a:prstGeom>
          <a:solidFill>
            <a:srgbClr val="F4FBFA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0" y="192024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A2B33"/>
                </a:solidFill>
                <a:latin typeface="Microsoft JhengHei"/>
              </a:rPr>
              <a:t>0.2532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1856232"/>
            <a:ext cx="1463040" cy="256032"/>
          </a:xfrm>
          <a:prstGeom prst="rect">
            <a:avLst/>
          </a:prstGeom>
          <a:solidFill>
            <a:srgbClr val="F4FBFA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06240" y="192024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A2B33"/>
                </a:solidFill>
                <a:latin typeface="Microsoft JhengHei"/>
              </a:rPr>
              <a:t>0.2736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0" y="1856232"/>
            <a:ext cx="1554480" cy="256032"/>
          </a:xfrm>
          <a:prstGeom prst="rect">
            <a:avLst/>
          </a:prstGeom>
          <a:solidFill>
            <a:srgbClr val="F4FBFA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0" y="192024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A2B33"/>
                </a:solidFill>
                <a:latin typeface="Microsoft JhengHei"/>
              </a:rPr>
              <a:t>0.2169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23760" y="1856232"/>
            <a:ext cx="1371600" cy="256032"/>
          </a:xfrm>
          <a:prstGeom prst="rect">
            <a:avLst/>
          </a:prstGeom>
          <a:solidFill>
            <a:srgbClr val="F4FBFA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23760" y="192024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A2B33"/>
                </a:solidFill>
                <a:latin typeface="Microsoft JhengHei"/>
              </a:rPr>
              <a:t>0.4030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95360" y="1856232"/>
            <a:ext cx="1371600" cy="256032"/>
          </a:xfrm>
          <a:prstGeom prst="rect">
            <a:avLst/>
          </a:prstGeom>
          <a:solidFill>
            <a:srgbClr val="F4FBFA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60" y="192024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A2B33"/>
                </a:solidFill>
                <a:latin typeface="Microsoft JhengHei"/>
              </a:rPr>
              <a:t>0.001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2112264"/>
            <a:ext cx="2194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2176272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2B33"/>
                </a:solidFill>
                <a:latin typeface="Microsoft JhengHei"/>
              </a:rPr>
              <a:t>BPR-MF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0" y="2112264"/>
            <a:ext cx="14630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0" y="2176272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A2B33"/>
                </a:solidFill>
                <a:latin typeface="Microsoft JhengHei"/>
              </a:rPr>
              <a:t>0.2544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06240" y="2112264"/>
            <a:ext cx="14630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06240" y="2176272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A2B33"/>
                </a:solidFill>
                <a:latin typeface="Microsoft JhengHei"/>
              </a:rPr>
              <a:t>0.2825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0" y="2112264"/>
            <a:ext cx="15544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0" y="2176272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A2B33"/>
                </a:solidFill>
                <a:latin typeface="Microsoft JhengHei"/>
              </a:rPr>
              <a:t>0.2087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23760" y="2112264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23760" y="2176272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A2B33"/>
                </a:solidFill>
                <a:latin typeface="Microsoft JhengHei"/>
              </a:rPr>
              <a:t>0.4064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95360" y="2112264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95360" y="2176272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A2B33"/>
                </a:solidFill>
                <a:latin typeface="Microsoft JhengHei"/>
              </a:rPr>
              <a:t>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2368296"/>
            <a:ext cx="2194560" cy="256032"/>
          </a:xfrm>
          <a:prstGeom prst="rect">
            <a:avLst/>
          </a:prstGeom>
          <a:solidFill>
            <a:srgbClr val="F4FBFA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2432304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2B33"/>
                </a:solidFill>
                <a:latin typeface="Microsoft JhengHei"/>
              </a:rPr>
              <a:t>NGCF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0" y="2368296"/>
            <a:ext cx="1463040" cy="256032"/>
          </a:xfrm>
          <a:prstGeom prst="rect">
            <a:avLst/>
          </a:prstGeom>
          <a:solidFill>
            <a:srgbClr val="F4FBFA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0" y="2432304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A2B33"/>
                </a:solidFill>
                <a:latin typeface="Microsoft JhengHei"/>
              </a:rPr>
              <a:t>0.2639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06240" y="2368296"/>
            <a:ext cx="1463040" cy="256032"/>
          </a:xfrm>
          <a:prstGeom prst="rect">
            <a:avLst/>
          </a:prstGeom>
          <a:solidFill>
            <a:srgbClr val="F4FBFA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06240" y="2432304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A2B33"/>
                </a:solidFill>
                <a:latin typeface="Microsoft JhengHei"/>
              </a:rPr>
              <a:t>0.2959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0" y="2368296"/>
            <a:ext cx="1554480" cy="256032"/>
          </a:xfrm>
          <a:prstGeom prst="rect">
            <a:avLst/>
          </a:prstGeom>
          <a:solidFill>
            <a:srgbClr val="F4FBFA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669280" y="2432304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A2B33"/>
                </a:solidFill>
                <a:latin typeface="Microsoft JhengHei"/>
              </a:rPr>
              <a:t>0.2101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223760" y="2368296"/>
            <a:ext cx="1371600" cy="256032"/>
          </a:xfrm>
          <a:prstGeom prst="rect">
            <a:avLst/>
          </a:prstGeom>
          <a:solidFill>
            <a:srgbClr val="F4FBFA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223760" y="2432304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A2B33"/>
                </a:solidFill>
                <a:latin typeface="Microsoft JhengHei"/>
              </a:rPr>
              <a:t>0.4158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595360" y="2368296"/>
            <a:ext cx="1371600" cy="256032"/>
          </a:xfrm>
          <a:prstGeom prst="rect">
            <a:avLst/>
          </a:prstGeom>
          <a:solidFill>
            <a:srgbClr val="F4FBFA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95360" y="2432304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A2B33"/>
                </a:solidFill>
                <a:latin typeface="Microsoft JhengHei"/>
              </a:rPr>
              <a:t>0.120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2624328"/>
            <a:ext cx="2194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" y="2688336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2B33"/>
                </a:solidFill>
                <a:latin typeface="Microsoft JhengHei"/>
              </a:rPr>
              <a:t>LightGCN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0" y="2624328"/>
            <a:ext cx="14630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43200" y="2688336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A2B33"/>
                </a:solidFill>
                <a:latin typeface="Microsoft JhengHei"/>
              </a:rPr>
              <a:t>0.2648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206240" y="2624328"/>
            <a:ext cx="14630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206240" y="2688336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A2B33"/>
                </a:solidFill>
                <a:latin typeface="Microsoft JhengHei"/>
              </a:rPr>
              <a:t>0.2977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669280" y="2624328"/>
            <a:ext cx="15544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669280" y="2688336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A2B33"/>
                </a:solidFill>
                <a:latin typeface="Microsoft JhengHei"/>
              </a:rPr>
              <a:t>0.2178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223760" y="2624328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223760" y="2688336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A2B33"/>
                </a:solidFill>
                <a:latin typeface="Microsoft JhengHei"/>
              </a:rPr>
              <a:t>0.4209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595360" y="2624328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595360" y="2688336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A2B33"/>
                </a:solidFill>
                <a:latin typeface="Microsoft JhengHei"/>
              </a:rPr>
              <a:t>0.029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48640" y="2880360"/>
            <a:ext cx="2194560" cy="256032"/>
          </a:xfrm>
          <a:prstGeom prst="rect">
            <a:avLst/>
          </a:prstGeom>
          <a:solidFill>
            <a:srgbClr val="F4FBFA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48640" y="2944368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2B33"/>
                </a:solidFill>
                <a:latin typeface="Microsoft JhengHei"/>
              </a:rPr>
              <a:t>LightGCN-SI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0" y="2880360"/>
            <a:ext cx="1463040" cy="256032"/>
          </a:xfrm>
          <a:prstGeom prst="rect">
            <a:avLst/>
          </a:prstGeom>
          <a:solidFill>
            <a:srgbClr val="F4FBFA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743200" y="2944368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A2B33"/>
                </a:solidFill>
                <a:latin typeface="Microsoft JhengHei"/>
              </a:rPr>
              <a:t>0.2667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206240" y="2880360"/>
            <a:ext cx="1463040" cy="256032"/>
          </a:xfrm>
          <a:prstGeom prst="rect">
            <a:avLst/>
          </a:prstGeom>
          <a:solidFill>
            <a:srgbClr val="F4FBFA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206240" y="2944368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A2B33"/>
                </a:solidFill>
                <a:latin typeface="Microsoft JhengHei"/>
              </a:rPr>
              <a:t>0.2970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669280" y="2880360"/>
            <a:ext cx="1554480" cy="256032"/>
          </a:xfrm>
          <a:prstGeom prst="rect">
            <a:avLst/>
          </a:prstGeom>
          <a:solidFill>
            <a:srgbClr val="F4FBFA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669280" y="2944368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A2B33"/>
                </a:solidFill>
                <a:latin typeface="Microsoft JhengHei"/>
              </a:rPr>
              <a:t>0.2231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223760" y="2880360"/>
            <a:ext cx="1371600" cy="256032"/>
          </a:xfrm>
          <a:prstGeom prst="rect">
            <a:avLst/>
          </a:prstGeom>
          <a:solidFill>
            <a:srgbClr val="F4FBFA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223760" y="2944368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A2B33"/>
                </a:solidFill>
                <a:latin typeface="Microsoft JhengHei"/>
              </a:rPr>
              <a:t>0.4252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595360" y="2880360"/>
            <a:ext cx="1371600" cy="256032"/>
          </a:xfrm>
          <a:prstGeom prst="rect">
            <a:avLst/>
          </a:prstGeom>
          <a:solidFill>
            <a:srgbClr val="F4FBFA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595360" y="2944368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A2B33"/>
                </a:solidFill>
                <a:latin typeface="Microsoft JhengHei"/>
              </a:rPr>
              <a:t>0.028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48640" y="3136392"/>
            <a:ext cx="2194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48640" y="320040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2B33"/>
                </a:solidFill>
                <a:latin typeface="Microsoft JhengHei"/>
              </a:rPr>
              <a:t>LightGCN-Multi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743200" y="3136392"/>
            <a:ext cx="14630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743200" y="320040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A2B33"/>
                </a:solidFill>
                <a:latin typeface="Microsoft JhengHei"/>
              </a:rPr>
              <a:t>0.2684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206240" y="3136392"/>
            <a:ext cx="14630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206240" y="320040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A2B33"/>
                </a:solidFill>
                <a:latin typeface="Microsoft JhengHei"/>
              </a:rPr>
              <a:t>0.2975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669280" y="3136392"/>
            <a:ext cx="15544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669280" y="320040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A2B33"/>
                </a:solidFill>
                <a:latin typeface="Microsoft JhengHei"/>
              </a:rPr>
              <a:t>0.2238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223760" y="3136392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223760" y="320040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A2B33"/>
                </a:solidFill>
                <a:latin typeface="Microsoft JhengHei"/>
              </a:rPr>
              <a:t>0.4266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595360" y="3136392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595360" y="320040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A2B33"/>
                </a:solidFill>
                <a:latin typeface="Microsoft JhengHei"/>
              </a:rPr>
              <a:t>0.027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48640" y="3392424"/>
            <a:ext cx="2194560" cy="256032"/>
          </a:xfrm>
          <a:prstGeom prst="rect">
            <a:avLst/>
          </a:prstGeom>
          <a:solidFill>
            <a:srgbClr val="F4FBFA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48640" y="3456432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2B33"/>
                </a:solidFill>
                <a:latin typeface="Microsoft JhengHei"/>
              </a:rPr>
              <a:t>LightGCN-BERT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743200" y="3392424"/>
            <a:ext cx="1463040" cy="256032"/>
          </a:xfrm>
          <a:prstGeom prst="rect">
            <a:avLst/>
          </a:prstGeom>
          <a:solidFill>
            <a:srgbClr val="F4FBFA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743200" y="3456432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A2B33"/>
                </a:solidFill>
                <a:latin typeface="Microsoft JhengHei"/>
              </a:rPr>
              <a:t>0.2674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206240" y="3392424"/>
            <a:ext cx="1463040" cy="256032"/>
          </a:xfrm>
          <a:prstGeom prst="rect">
            <a:avLst/>
          </a:prstGeom>
          <a:solidFill>
            <a:srgbClr val="F4FBFA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206240" y="3456432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A2B33"/>
                </a:solidFill>
                <a:latin typeface="Microsoft JhengHei"/>
              </a:rPr>
              <a:t>0.2986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669280" y="3392424"/>
            <a:ext cx="1554480" cy="256032"/>
          </a:xfrm>
          <a:prstGeom prst="rect">
            <a:avLst/>
          </a:prstGeom>
          <a:solidFill>
            <a:srgbClr val="F4FBFA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669280" y="3456432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A2B33"/>
                </a:solidFill>
                <a:latin typeface="Microsoft JhengHei"/>
              </a:rPr>
              <a:t>0.2232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223760" y="3392424"/>
            <a:ext cx="1371600" cy="256032"/>
          </a:xfrm>
          <a:prstGeom prst="rect">
            <a:avLst/>
          </a:prstGeom>
          <a:solidFill>
            <a:srgbClr val="F4FBFA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223760" y="3456432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A2B33"/>
                </a:solidFill>
                <a:latin typeface="Microsoft JhengHei"/>
              </a:rPr>
              <a:t>0.4257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595360" y="3392424"/>
            <a:ext cx="1371600" cy="256032"/>
          </a:xfrm>
          <a:prstGeom prst="rect">
            <a:avLst/>
          </a:prstGeom>
          <a:solidFill>
            <a:srgbClr val="F4FBFA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595360" y="3456432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A2B33"/>
                </a:solidFill>
                <a:latin typeface="Microsoft JhengHei"/>
              </a:rPr>
              <a:t>0.064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48640" y="3648456"/>
            <a:ext cx="2194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48640" y="3712464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2B33"/>
                </a:solidFill>
                <a:latin typeface="Microsoft JhengHei"/>
              </a:rPr>
              <a:t>LightGCN-TGN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743200" y="3648456"/>
            <a:ext cx="14630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743200" y="3712464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A2B33"/>
                </a:solidFill>
                <a:latin typeface="Microsoft JhengHei"/>
              </a:rPr>
              <a:t>0.2672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206240" y="3648456"/>
            <a:ext cx="14630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206240" y="3712464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A2B33"/>
                </a:solidFill>
                <a:latin typeface="Microsoft JhengHei"/>
              </a:rPr>
              <a:t>0.2987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669280" y="3648456"/>
            <a:ext cx="15544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669280" y="3712464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A2B33"/>
                </a:solidFill>
                <a:latin typeface="Microsoft JhengHei"/>
              </a:rPr>
              <a:t>0.2197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223760" y="3648456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223760" y="3712464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A2B33"/>
                </a:solidFill>
                <a:latin typeface="Microsoft JhengHei"/>
              </a:rPr>
              <a:t>0.4263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595360" y="3648456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595360" y="3712464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A2B33"/>
                </a:solidFill>
                <a:latin typeface="Microsoft JhengHei"/>
              </a:rPr>
              <a:t>0.016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48640" y="3904488"/>
            <a:ext cx="2194560" cy="256032"/>
          </a:xfrm>
          <a:prstGeom prst="rect">
            <a:avLst/>
          </a:prstGeom>
          <a:solidFill>
            <a:srgbClr val="F4FBFA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48640" y="3968496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2B33"/>
                </a:solidFill>
                <a:latin typeface="Microsoft JhengHei"/>
              </a:rPr>
              <a:t>LightGCN-Cover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743200" y="3904488"/>
            <a:ext cx="1463040" cy="256032"/>
          </a:xfrm>
          <a:prstGeom prst="rect">
            <a:avLst/>
          </a:prstGeom>
          <a:solidFill>
            <a:srgbClr val="F4FBFA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743200" y="3968496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A2B33"/>
                </a:solidFill>
                <a:latin typeface="Microsoft JhengHei"/>
              </a:rPr>
              <a:t>0.2602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206240" y="3904488"/>
            <a:ext cx="1463040" cy="256032"/>
          </a:xfrm>
          <a:prstGeom prst="rect">
            <a:avLst/>
          </a:prstGeom>
          <a:solidFill>
            <a:srgbClr val="F4FBFA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206240" y="3968496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A2B33"/>
                </a:solidFill>
                <a:latin typeface="Microsoft JhengHei"/>
              </a:rPr>
              <a:t>0.2915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5669280" y="3904488"/>
            <a:ext cx="1554480" cy="256032"/>
          </a:xfrm>
          <a:prstGeom prst="rect">
            <a:avLst/>
          </a:prstGeom>
          <a:solidFill>
            <a:srgbClr val="F4FBFA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5669280" y="3968496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A2B33"/>
                </a:solidFill>
                <a:latin typeface="Microsoft JhengHei"/>
              </a:rPr>
              <a:t>0.2153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223760" y="3904488"/>
            <a:ext cx="1371600" cy="256032"/>
          </a:xfrm>
          <a:prstGeom prst="rect">
            <a:avLst/>
          </a:prstGeom>
          <a:solidFill>
            <a:srgbClr val="F4FBFA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223760" y="3968496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A2B33"/>
                </a:solidFill>
                <a:latin typeface="Microsoft JhengHei"/>
              </a:rPr>
              <a:t>0.4149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8595360" y="3904488"/>
            <a:ext cx="1371600" cy="256032"/>
          </a:xfrm>
          <a:prstGeom prst="rect">
            <a:avLst/>
          </a:prstGeom>
          <a:solidFill>
            <a:srgbClr val="F4FBFA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8595360" y="3968496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A2B33"/>
                </a:solidFill>
                <a:latin typeface="Microsoft JhengHei"/>
              </a:rPr>
              <a:t>0.017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48640" y="4160520"/>
            <a:ext cx="2194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548640" y="4224528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2B33"/>
                </a:solidFill>
                <a:latin typeface="Microsoft JhengHei"/>
              </a:rPr>
              <a:t>SimGCL (調參)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2743200" y="4160520"/>
            <a:ext cx="14630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743200" y="4224528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A2B33"/>
                </a:solidFill>
                <a:latin typeface="Microsoft JhengHei"/>
              </a:rPr>
              <a:t>0.2644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206240" y="4160520"/>
            <a:ext cx="14630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206240" y="4224528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A2B33"/>
                </a:solidFill>
                <a:latin typeface="Microsoft JhengHei"/>
              </a:rPr>
              <a:t>0.2969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5669280" y="4160520"/>
            <a:ext cx="15544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5669280" y="4224528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A2B33"/>
                </a:solidFill>
                <a:latin typeface="Microsoft JhengHei"/>
              </a:rPr>
              <a:t>0.2165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223760" y="4160520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223760" y="4224528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A2B33"/>
                </a:solidFill>
                <a:latin typeface="Microsoft JhengHei"/>
              </a:rPr>
              <a:t>0.4201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8595360" y="4160520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8595360" y="4224528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A2B33"/>
                </a:solidFill>
                <a:latin typeface="Microsoft JhengHei"/>
              </a:rPr>
              <a:t>0.034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548640" y="4416552"/>
            <a:ext cx="2194560" cy="256032"/>
          </a:xfrm>
          <a:prstGeom prst="rect">
            <a:avLst/>
          </a:prstGeom>
          <a:solidFill>
            <a:srgbClr val="F4FBFA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548640" y="448056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2B33"/>
                </a:solidFill>
                <a:latin typeface="Microsoft JhengHei"/>
              </a:rPr>
              <a:t>SASRec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2743200" y="4416552"/>
            <a:ext cx="1463040" cy="256032"/>
          </a:xfrm>
          <a:prstGeom prst="rect">
            <a:avLst/>
          </a:prstGeom>
          <a:solidFill>
            <a:srgbClr val="F4FBFA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2743200" y="448056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A2B33"/>
                </a:solidFill>
                <a:latin typeface="Microsoft JhengHei"/>
              </a:rPr>
              <a:t>0.1051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206240" y="4416552"/>
            <a:ext cx="1463040" cy="256032"/>
          </a:xfrm>
          <a:prstGeom prst="rect">
            <a:avLst/>
          </a:prstGeom>
          <a:solidFill>
            <a:srgbClr val="F4FBFA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206240" y="448056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A2B33"/>
                </a:solidFill>
                <a:latin typeface="Microsoft JhengHei"/>
              </a:rPr>
              <a:t>0.1721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5669280" y="4416552"/>
            <a:ext cx="1554480" cy="256032"/>
          </a:xfrm>
          <a:prstGeom prst="rect">
            <a:avLst/>
          </a:prstGeom>
          <a:solidFill>
            <a:srgbClr val="F4FBFA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5669280" y="448056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A2B33"/>
                </a:solidFill>
                <a:latin typeface="Microsoft JhengHei"/>
              </a:rPr>
              <a:t>0.0420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223760" y="4416552"/>
            <a:ext cx="1371600" cy="256032"/>
          </a:xfrm>
          <a:prstGeom prst="rect">
            <a:avLst/>
          </a:prstGeom>
          <a:solidFill>
            <a:srgbClr val="F4FBFA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223760" y="448056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A2B33"/>
                </a:solidFill>
                <a:latin typeface="Microsoft JhengHei"/>
              </a:rPr>
              <a:t>0.1751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8595360" y="4416552"/>
            <a:ext cx="1371600" cy="256032"/>
          </a:xfrm>
          <a:prstGeom prst="rect">
            <a:avLst/>
          </a:prstGeom>
          <a:solidFill>
            <a:srgbClr val="F4FBFA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8595360" y="448056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A2B33"/>
                </a:solidFill>
                <a:latin typeface="Microsoft JhengHei"/>
              </a:rPr>
              <a:t>0.489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548640" y="4672584"/>
            <a:ext cx="2194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548640" y="4736592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2B33"/>
                </a:solidFill>
                <a:latin typeface="Microsoft JhengHei"/>
              </a:rPr>
              <a:t>LightGCN-Opt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2743200" y="4672584"/>
            <a:ext cx="14630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2743200" y="4736592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A2B33"/>
                </a:solidFill>
                <a:latin typeface="Microsoft JhengHei"/>
              </a:rPr>
              <a:t>0.2688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206240" y="4672584"/>
            <a:ext cx="14630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206240" y="4736592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A2B33"/>
                </a:solidFill>
                <a:latin typeface="Microsoft JhengHei"/>
              </a:rPr>
              <a:t>0.3024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5669280" y="4672584"/>
            <a:ext cx="15544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5669280" y="4736592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A2B33"/>
                </a:solidFill>
                <a:latin typeface="Microsoft JhengHei"/>
              </a:rPr>
              <a:t>0.2212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223760" y="4672584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223760" y="4736592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A2B33"/>
                </a:solidFill>
                <a:latin typeface="Microsoft JhengHei"/>
              </a:rPr>
              <a:t>0.4268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8595360" y="4672584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8595360" y="4736592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A2B33"/>
                </a:solidFill>
                <a:latin typeface="Microsoft JhengHei"/>
              </a:rPr>
              <a:t>0.179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548640" y="4928616"/>
            <a:ext cx="2194560" cy="256032"/>
          </a:xfrm>
          <a:prstGeom prst="rect">
            <a:avLst/>
          </a:prstGeom>
          <a:solidFill>
            <a:srgbClr val="02C39A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548640" y="4992624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2B33"/>
                </a:solidFill>
                <a:latin typeface="Microsoft JhengHei"/>
              </a:rPr>
              <a:t>LightGCN-Multi-Opt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40080" y="4992624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2B33"/>
                </a:solidFill>
                <a:latin typeface="Microsoft JhengHei"/>
              </a:rPr>
              <a:t>★ LightGCN-Multi-Opt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2743200" y="4928616"/>
            <a:ext cx="1463040" cy="256032"/>
          </a:xfrm>
          <a:prstGeom prst="rect">
            <a:avLst/>
          </a:prstGeom>
          <a:solidFill>
            <a:srgbClr val="02C39A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2743200" y="4992624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A2B33"/>
                </a:solidFill>
                <a:latin typeface="Microsoft JhengHei"/>
              </a:rPr>
              <a:t>0.2707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4206240" y="4928616"/>
            <a:ext cx="1463040" cy="256032"/>
          </a:xfrm>
          <a:prstGeom prst="rect">
            <a:avLst/>
          </a:prstGeom>
          <a:solidFill>
            <a:srgbClr val="02C39A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4206240" y="4992624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A2B33"/>
                </a:solidFill>
                <a:latin typeface="Microsoft JhengHei"/>
              </a:rPr>
              <a:t>0.3015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5669280" y="4928616"/>
            <a:ext cx="1554480" cy="256032"/>
          </a:xfrm>
          <a:prstGeom prst="rect">
            <a:avLst/>
          </a:prstGeom>
          <a:solidFill>
            <a:srgbClr val="02C39A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5669280" y="4992624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A2B33"/>
                </a:solidFill>
                <a:latin typeface="Microsoft JhengHei"/>
              </a:rPr>
              <a:t>0.2232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7223760" y="4928616"/>
            <a:ext cx="1371600" cy="256032"/>
          </a:xfrm>
          <a:prstGeom prst="rect">
            <a:avLst/>
          </a:prstGeom>
          <a:solidFill>
            <a:srgbClr val="02C39A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7223760" y="4992624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A2B33"/>
                </a:solidFill>
                <a:latin typeface="Microsoft JhengHei"/>
              </a:rPr>
              <a:t>0.4307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8595360" y="4928616"/>
            <a:ext cx="1371600" cy="256032"/>
          </a:xfrm>
          <a:prstGeom prst="rect">
            <a:avLst/>
          </a:prstGeom>
          <a:solidFill>
            <a:srgbClr val="02C39A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8595360" y="4992624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A2B33"/>
                </a:solidFill>
                <a:latin typeface="Microsoft JhengHei"/>
              </a:rPr>
              <a:t>0.265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548640" y="5212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28090"/>
                </a:solidFill>
                <a:latin typeface="Microsoft JhengHei"/>
              </a:rPr>
              <a:t>結論：LightGCN-Multi-Opt 為最佳，Optuna 大幅推升 R@20 與 Coverage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548640" y="55778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A2B33"/>
                </a:solidFill>
                <a:latin typeface="Microsoft JhengHei"/>
              </a:rPr>
              <a:t>• GNN 全面超越傳統方法（R@10 較 BPR-MF 提升 5.5%）；NGCF 反證「簡化 &gt; 複雜」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1A2B33"/>
                </a:solidFill>
                <a:latin typeface="Microsoft JhengHei"/>
              </a:rPr>
              <a:t>• Optuna 找到 lr=2.8e-3、batch=2048 → R@20 0.30 → 0.32（驗證 +6.6%），Coverage 0.027 → 0.265（10 倍）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1A2B33"/>
                </a:solidFill>
                <a:latin typeface="Microsoft JhengHei"/>
              </a:rPr>
              <a:t>• BERT / TGN / Cover 為等水準對照；SASRec 因 paradigm 不同看似差但 Cov 最高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C7A80"/>
                </a:solidFill>
                <a:latin typeface="Microsoft JhengHei"/>
              </a:rPr>
              <a:t>圖書館 GNN 推薦系統  |  畢業專題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C7A80"/>
                </a:solidFill>
                <a:latin typeface="Microsoft JhengHei"/>
              </a:rPr>
              <a:t>9 /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28090"/>
                </a:solidFill>
                <a:latin typeface="Microsoft JhengHei"/>
              </a:rPr>
              <a:t>模型表現視覺比較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C7A80"/>
                </a:solidFill>
                <a:latin typeface="Microsoft JhengHei"/>
              </a:rPr>
              <a:t>fig08_model_comparison.png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3810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08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7360"/>
            <a:ext cx="11064240" cy="3688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C7A80"/>
                </a:solidFill>
                <a:latin typeface="Microsoft JhengHei"/>
              </a:rPr>
              <a:t>圖書館 GNN 推薦系統  |  畢業專題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C7A80"/>
                </a:solidFill>
                <a:latin typeface="Microsoft JhengHei"/>
              </a:rPr>
              <a:t>10 /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28090"/>
                </a:solidFill>
                <a:latin typeface="Microsoft JhengHei"/>
              </a:rPr>
              <a:t>Optuna 自動超參數搜尋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C7A80"/>
                </a:solidFill>
                <a:latin typeface="Microsoft JhengHei"/>
              </a:rPr>
              <a:t>TPE Sampler × 20 trials → 顯著超越手動 grid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3810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28090"/>
                </a:solidFill>
                <a:latin typeface="Microsoft JhengHei"/>
              </a:rPr>
              <a:t>搜尋空間 vs Optuna 找到的最佳值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155448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7627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超參數</a:t>
            </a:r>
          </a:p>
        </p:txBody>
      </p:sp>
      <p:sp>
        <p:nvSpPr>
          <p:cNvPr id="9" name="Rectangle 8"/>
          <p:cNvSpPr/>
          <p:nvPr/>
        </p:nvSpPr>
        <p:spPr>
          <a:xfrm>
            <a:off x="2103120" y="2103120"/>
            <a:ext cx="237744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0" y="217627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搜尋範圍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2103120"/>
            <a:ext cx="155448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217627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最佳值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468880"/>
            <a:ext cx="1554480" cy="365760"/>
          </a:xfrm>
          <a:prstGeom prst="rect">
            <a:avLst/>
          </a:prstGeom>
          <a:solidFill>
            <a:srgbClr val="F4FBFA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54203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2B33"/>
                </a:solidFill>
                <a:latin typeface="Microsoft JhengHei"/>
              </a:rPr>
              <a:t>embed_dim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03120" y="2468880"/>
            <a:ext cx="2377440" cy="365760"/>
          </a:xfrm>
          <a:prstGeom prst="rect">
            <a:avLst/>
          </a:prstGeom>
          <a:solidFill>
            <a:srgbClr val="F4FBFA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03120" y="254203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2B33"/>
                </a:solidFill>
                <a:latin typeface="Microsoft JhengHei"/>
              </a:rPr>
              <a:t>{32, 64, 128}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60" y="2468880"/>
            <a:ext cx="1554480" cy="365760"/>
          </a:xfrm>
          <a:prstGeom prst="rect">
            <a:avLst/>
          </a:prstGeom>
          <a:solidFill>
            <a:srgbClr val="F4FBFA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254203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2B33"/>
                </a:solidFill>
                <a:latin typeface="Microsoft JhengHei"/>
              </a:rPr>
              <a:t>128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834640"/>
            <a:ext cx="1554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90779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2B33"/>
                </a:solidFill>
                <a:latin typeface="Microsoft JhengHei"/>
              </a:rPr>
              <a:t>n_layers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03120" y="2834640"/>
            <a:ext cx="23774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03120" y="290779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2B33"/>
                </a:solidFill>
                <a:latin typeface="Microsoft JhengHei"/>
              </a:rPr>
              <a:t>{1, 2, 3, 4}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80560" y="2834640"/>
            <a:ext cx="1554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60" y="290779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2B33"/>
                </a:solidFill>
                <a:latin typeface="Microsoft JhengHei"/>
              </a:rPr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200400"/>
            <a:ext cx="1554480" cy="365760"/>
          </a:xfrm>
          <a:prstGeom prst="rect">
            <a:avLst/>
          </a:prstGeom>
          <a:solidFill>
            <a:srgbClr val="F4FBFA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27355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2B33"/>
                </a:solidFill>
                <a:latin typeface="Microsoft JhengHei"/>
              </a:rPr>
              <a:t>lr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03120" y="3200400"/>
            <a:ext cx="2377440" cy="365760"/>
          </a:xfrm>
          <a:prstGeom prst="rect">
            <a:avLst/>
          </a:prstGeom>
          <a:solidFill>
            <a:srgbClr val="F4FBFA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03120" y="327355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2B33"/>
                </a:solidFill>
                <a:latin typeface="Microsoft JhengHei"/>
              </a:rPr>
              <a:t>log [5e-4, 5e-3]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80560" y="3200400"/>
            <a:ext cx="1554480" cy="365760"/>
          </a:xfrm>
          <a:prstGeom prst="rect">
            <a:avLst/>
          </a:prstGeom>
          <a:solidFill>
            <a:srgbClr val="F4FBFA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0560" y="327355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2B33"/>
                </a:solidFill>
                <a:latin typeface="Microsoft JhengHei"/>
              </a:rPr>
              <a:t>0.00281 ★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566160"/>
            <a:ext cx="1554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363931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2B33"/>
                </a:solidFill>
                <a:latin typeface="Microsoft JhengHei"/>
              </a:rPr>
              <a:t>weight_decay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03120" y="3566160"/>
            <a:ext cx="23774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03120" y="363931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2B33"/>
                </a:solidFill>
                <a:latin typeface="Microsoft JhengHei"/>
              </a:rPr>
              <a:t>log [1e-7, 1e-3]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80560" y="3566160"/>
            <a:ext cx="1554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80560" y="363931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2B33"/>
                </a:solidFill>
                <a:latin typeface="Microsoft JhengHei"/>
              </a:rPr>
              <a:t>5.65e-05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3931920"/>
            <a:ext cx="1554480" cy="365760"/>
          </a:xfrm>
          <a:prstGeom prst="rect">
            <a:avLst/>
          </a:prstGeom>
          <a:solidFill>
            <a:srgbClr val="F4FBFA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400507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2B33"/>
                </a:solidFill>
                <a:latin typeface="Microsoft JhengHei"/>
              </a:rPr>
              <a:t>batch_size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03120" y="3931920"/>
            <a:ext cx="2377440" cy="365760"/>
          </a:xfrm>
          <a:prstGeom prst="rect">
            <a:avLst/>
          </a:prstGeom>
          <a:solidFill>
            <a:srgbClr val="F4FBFA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03120" y="400507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2B33"/>
                </a:solidFill>
                <a:latin typeface="Microsoft JhengHei"/>
              </a:rPr>
              <a:t>{1024, 2048, 4096}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80560" y="3931920"/>
            <a:ext cx="1554480" cy="365760"/>
          </a:xfrm>
          <a:prstGeom prst="rect">
            <a:avLst/>
          </a:prstGeom>
          <a:solidFill>
            <a:srgbClr val="F4FBFA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80560" y="400507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2B33"/>
                </a:solidFill>
                <a:latin typeface="Microsoft JhengHei"/>
              </a:rPr>
              <a:t>2048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1691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28090"/>
                </a:solidFill>
                <a:latin typeface="Microsoft JhengHei"/>
              </a:rPr>
              <a:t>Grid Search vs Optuna 成績比較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0" y="210312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F4FBFA"/>
          </a:solidFill>
          <a:ln w="25400">
            <a:solidFill>
              <a:srgbClr val="1A2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0" y="21945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2B33"/>
                </a:solidFill>
                <a:latin typeface="Microsoft JhengHei"/>
              </a:rPr>
              <a:t>Grid Search 最佳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0" y="2560320"/>
            <a:ext cx="5120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2B33"/>
                </a:solidFill>
                <a:latin typeface="Microsoft JhengHei"/>
              </a:rPr>
              <a:t>embed=128, layers=2
lr=1e-3, batch=4096
Val R@20 = 0.3034
Coverage@10 = 0.027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800" y="365760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F4FBFA"/>
          </a:solidFill>
          <a:ln w="254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83680" y="37490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28090"/>
                </a:solidFill>
                <a:latin typeface="Microsoft JhengHei"/>
              </a:rPr>
              <a:t>Optuna TPE 最佳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0" y="4114800"/>
            <a:ext cx="5120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2B33"/>
                </a:solidFill>
                <a:latin typeface="Microsoft JhengHei"/>
              </a:rPr>
              <a:t>embed=128, layers=2
lr=2.81e-3, batch=2048
Val R@20 = 0.3233 (+6.6%)
Coverage@10 = 0.265 (10 ×)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507492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28090"/>
                </a:solidFill>
                <a:latin typeface="Microsoft JhengHei"/>
              </a:rPr>
              <a:t>關鍵 insight：自動調參不只是「微調」 — 是「換軌道」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548640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A2B33"/>
                </a:solidFill>
                <a:latin typeface="Microsoft JhengHei"/>
              </a:rPr>
              <a:t>• lr 從 1e-3 → 2.8e-3，較小 batch=2048 → 模型在相同 50 epochs 內收斂得更深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1A2B33"/>
                </a:solidFill>
                <a:latin typeface="Microsoft JhengHei"/>
              </a:rPr>
              <a:t>• Coverage 暴增意義：原本只覆蓋全館 2.7% → 26.5%，對長尾書曝光是巨大進步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1A2B33"/>
                </a:solidFill>
                <a:latin typeface="Microsoft JhengHei"/>
              </a:rPr>
              <a:t>• 套用至 LightGCN-Multi 變成 LightGCN-Multi-Opt → 全研究最佳模型（R@10、Hit@10、Cov@10 三指標冠軍）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C7A80"/>
                </a:solidFill>
                <a:latin typeface="Microsoft JhengHei"/>
              </a:rPr>
              <a:t>圖書館 GNN 推薦系統  |  畢業專題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C7A80"/>
                </a:solidFill>
                <a:latin typeface="Microsoft JhengHei"/>
              </a:rPr>
              <a:t>11 /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28090"/>
                </a:solidFill>
                <a:latin typeface="Microsoft JhengHei"/>
              </a:rPr>
              <a:t>進階模型對照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C7A80"/>
                </a:solidFill>
                <a:latin typeface="Microsoft JhengHei"/>
              </a:rPr>
              <a:t>TGN / 書封 CNN / SimGCL — 都做了，誠實寫結果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3810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5669280" cy="2194560"/>
          </a:xfrm>
          <a:prstGeom prst="roundRect">
            <a:avLst>
              <a:gd name="adj" fmla="val 8000"/>
            </a:avLst>
          </a:prstGeom>
          <a:solidFill>
            <a:srgbClr val="F4FBFA"/>
          </a:solidFill>
          <a:ln w="254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28090"/>
                </a:solidFill>
                <a:latin typeface="Microsoft JhengHei"/>
              </a:rPr>
              <a:t>LightGCN-TGN（時間圖）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53035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2B33"/>
                </a:solidFill>
                <a:latin typeface="Microsoft JhengHei"/>
              </a:rPr>
              <a:t>Time2Vec 編碼借閱時間
→ R@10 = 0.2672（與 Multi 相近）
推測：Multi 已含「按月加權」
時間訊號重複，無額外提升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783080"/>
            <a:ext cx="5669280" cy="2194560"/>
          </a:xfrm>
          <a:prstGeom prst="roundRect">
            <a:avLst>
              <a:gd name="adj" fmla="val 8000"/>
            </a:avLst>
          </a:prstGeom>
          <a:solidFill>
            <a:srgbClr val="F4FBFA"/>
          </a:solidFill>
          <a:ln w="25400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9202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A896"/>
                </a:solidFill>
                <a:latin typeface="Microsoft JhengHei"/>
              </a:rPr>
              <a:t>LightGCN-Cover（多模態）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331720"/>
            <a:ext cx="53035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2B33"/>
                </a:solidFill>
                <a:latin typeface="Microsoft JhengHei"/>
              </a:rPr>
              <a:t>ResNet-18 編碼書封 → 64 維
→ R@10 = 0.2602（略低）
原因：Open Library 中文書封
覆蓋僅 4.4% (66/1500)
→ feature 主要為零向量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114800"/>
            <a:ext cx="5669280" cy="2194560"/>
          </a:xfrm>
          <a:prstGeom prst="roundRect">
            <a:avLst>
              <a:gd name="adj" fmla="val 8000"/>
            </a:avLst>
          </a:prstGeom>
          <a:solidFill>
            <a:srgbClr val="F4FBFA"/>
          </a:solidFill>
          <a:ln w="25400">
            <a:solidFill>
              <a:srgbClr val="02C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25196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2C39A"/>
                </a:solidFill>
                <a:latin typeface="Microsoft JhengHei"/>
              </a:rPr>
              <a:t>SimGCL (SIGIR 2022)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663440"/>
            <a:ext cx="53035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2B33"/>
                </a:solidFill>
                <a:latin typeface="Microsoft JhengHei"/>
              </a:rPr>
              <a:t>原始 eps=0.1 → R@10=0.15 災難
Sweep eps × cl_weight 後
eps=0.02, cl=0.001 → R@10=0.264
達 LightGCN 同等水準
→ 對比學習對此資料無加分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4114800"/>
            <a:ext cx="5669280" cy="2194560"/>
          </a:xfrm>
          <a:prstGeom prst="roundRect">
            <a:avLst>
              <a:gd name="adj" fmla="val 8000"/>
            </a:avLst>
          </a:prstGeom>
          <a:solidFill>
            <a:srgbClr val="F4FBFA"/>
          </a:solidFill>
          <a:ln w="25400">
            <a:solidFill>
              <a:srgbClr val="1A2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425196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2B33"/>
                </a:solidFill>
                <a:latin typeface="Microsoft JhengHei"/>
              </a:rPr>
              <a:t>結論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663440"/>
            <a:ext cx="53035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2B33"/>
                </a:solidFill>
                <a:latin typeface="Microsoft JhengHei"/>
              </a:rPr>
              <a:t>進階模型 = 同水準對照組
證明 LightGCN-Multi-Opt
在此資料集上是 sweet spot
誠實面對：複雜模型未必更好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C7A80"/>
                </a:solidFill>
                <a:latin typeface="Microsoft JhengHei"/>
              </a:rPr>
              <a:t>圖書館 GNN 推薦系統  |  畢業專題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C7A80"/>
                </a:solidFill>
                <a:latin typeface="Microsoft JhengHei"/>
              </a:rPr>
              <a:t>12 /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28090"/>
                </a:solidFill>
                <a:latin typeface="Microsoft JhengHei"/>
              </a:rPr>
              <a:t>實驗嚴謹度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C7A80"/>
                </a:solidFill>
                <a:latin typeface="Microsoft JhengHei"/>
              </a:rPr>
              <a:t>Multi-seed + Hyperparam Grid + Ablation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3810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5440680" cy="2057400"/>
          </a:xfrm>
          <a:prstGeom prst="roundRect">
            <a:avLst>
              <a:gd name="adj" fmla="val 8000"/>
            </a:avLst>
          </a:prstGeom>
          <a:solidFill>
            <a:srgbClr val="F4FBFA"/>
          </a:solidFill>
          <a:ln w="254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28090"/>
                </a:solidFill>
                <a:latin typeface="Microsoft JhengHei"/>
              </a:rPr>
              <a:t>Multi-seed (n=3)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51206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2B33"/>
                </a:solidFill>
                <a:latin typeface="Microsoft JhengHei"/>
              </a:rPr>
              <a:t>LightGCN: R@10 = 0.263 ± 0.0003
LightGCN-SI: 0.267 ± 0.0006
LightGCN-Multi: 0.268 ± 0.0005
→ std 極小，差異統計顯著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79" y="1783080"/>
            <a:ext cx="5440680" cy="2057400"/>
          </a:xfrm>
          <a:prstGeom prst="roundRect">
            <a:avLst>
              <a:gd name="adj" fmla="val 8000"/>
            </a:avLst>
          </a:prstGeom>
          <a:solidFill>
            <a:srgbClr val="F4FBFA"/>
          </a:solidFill>
          <a:ln w="25400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59" y="19202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A896"/>
                </a:solidFill>
                <a:latin typeface="Microsoft JhengHei"/>
              </a:rPr>
              <a:t>超參數 Grid (12 組)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59" y="2331720"/>
            <a:ext cx="51206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2B33"/>
                </a:solidFill>
                <a:latin typeface="Microsoft JhengHei"/>
              </a:rPr>
              <a:t>embed=128, layers=2 最佳
(R@20=0.3034)
embed 越大越好
layers 4 過度平滑反退化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77639"/>
            <a:ext cx="5440680" cy="2057400"/>
          </a:xfrm>
          <a:prstGeom prst="roundRect">
            <a:avLst>
              <a:gd name="adj" fmla="val 8000"/>
            </a:avLst>
          </a:prstGeom>
          <a:solidFill>
            <a:srgbClr val="F4FBFA"/>
          </a:solidFill>
          <a:ln w="25400">
            <a:solidFill>
              <a:srgbClr val="02C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114799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2C39A"/>
                </a:solidFill>
                <a:latin typeface="Microsoft JhengHei"/>
              </a:rPr>
              <a:t>Side-info Ablation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26279"/>
            <a:ext cx="51206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2B33"/>
                </a:solidFill>
                <a:latin typeface="Microsoft JhengHei"/>
              </a:rPr>
              <a:t>8 種組合幾乎無差別
(差距 &lt; 0.002)
→ 誠實結論：side info 影響微小
（與單次實驗的「+2.4%」不同）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79" y="3977639"/>
            <a:ext cx="5440680" cy="2057400"/>
          </a:xfrm>
          <a:prstGeom prst="roundRect">
            <a:avLst>
              <a:gd name="adj" fmla="val 8000"/>
            </a:avLst>
          </a:prstGeom>
          <a:solidFill>
            <a:srgbClr val="F4FBFA"/>
          </a:solidFill>
          <a:ln w="254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59" y="4114799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28090"/>
                </a:solidFill>
                <a:latin typeface="Microsoft JhengHei"/>
              </a:rPr>
              <a:t>Reserve Weight (5 組)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4526279"/>
            <a:ext cx="51206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2B33"/>
                </a:solidFill>
                <a:latin typeface="Microsoft JhengHei"/>
              </a:rPr>
              <a:t>w=0.0 → R@10=0.267
w=0.5 → 0.268
w=1.0 → 0.268 ★
→ 預約應與借閱同等對待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C7A80"/>
                </a:solidFill>
                <a:latin typeface="Microsoft JhengHei"/>
              </a:rPr>
              <a:t>圖書館 GNN 推薦系統  |  畢業專題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C7A80"/>
                </a:solidFill>
                <a:latin typeface="Microsoft JhengHei"/>
              </a:rPr>
              <a:t>13 /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28090"/>
                </a:solidFill>
                <a:latin typeface="Microsoft JhengHei"/>
              </a:rPr>
              <a:t>統計顯著性檢驗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C7A80"/>
                </a:solidFill>
                <a:latin typeface="Microsoft JhengHei"/>
              </a:rPr>
              <a:t>差距是「真的」還是隨機？— Paired t-test (n=3 seeds)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3810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27432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3852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比較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828800"/>
            <a:ext cx="27432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93852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Recall@10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828800"/>
            <a:ext cx="27432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193852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NDCG@10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0" y="1828800"/>
            <a:ext cx="27432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0" y="193852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Hit@10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331720"/>
            <a:ext cx="2743200" cy="502920"/>
          </a:xfrm>
          <a:prstGeom prst="rect">
            <a:avLst/>
          </a:prstGeom>
          <a:solidFill>
            <a:srgbClr val="F4FBFA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44144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2B33"/>
                </a:solidFill>
                <a:latin typeface="Microsoft JhengHei"/>
              </a:rPr>
              <a:t>LightGCN → SI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0" y="2331720"/>
            <a:ext cx="2743200" cy="502920"/>
          </a:xfrm>
          <a:prstGeom prst="rect">
            <a:avLst/>
          </a:prstGeom>
          <a:solidFill>
            <a:srgbClr val="F4FBFA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0" y="244144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A2B33"/>
                </a:solidFill>
                <a:latin typeface="Microsoft JhengHei"/>
              </a:rPr>
              <a:t>+0.40%  p=0.005 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2331720"/>
            <a:ext cx="2743200" cy="502920"/>
          </a:xfrm>
          <a:prstGeom prst="rect">
            <a:avLst/>
          </a:prstGeom>
          <a:solidFill>
            <a:srgbClr val="F4FBFA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0" y="244144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A2B33"/>
                </a:solidFill>
                <a:latin typeface="Microsoft JhengHei"/>
              </a:rPr>
              <a:t>+0.65%  p=0.004 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78240" y="2331720"/>
            <a:ext cx="2743200" cy="502920"/>
          </a:xfrm>
          <a:prstGeom prst="rect">
            <a:avLst/>
          </a:prstGeom>
          <a:solidFill>
            <a:srgbClr val="F4FBFA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0" y="244144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A2B33"/>
                </a:solidFill>
                <a:latin typeface="Microsoft JhengHei"/>
              </a:rPr>
              <a:t>+0.69%  p=0.003 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834640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294436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2B33"/>
                </a:solidFill>
                <a:latin typeface="Microsoft JhengHei"/>
              </a:rPr>
              <a:t>SI → Multi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91840" y="2834640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91840" y="294436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A2B33"/>
                </a:solidFill>
                <a:latin typeface="Microsoft JhengHei"/>
              </a:rPr>
              <a:t>+0.10%  p=0.111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2834640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0" y="294436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A2B33"/>
                </a:solidFill>
                <a:latin typeface="Microsoft JhengHei"/>
              </a:rPr>
              <a:t>+0.07%  p=0.019 ★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78240" y="2834640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0" y="294436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A2B33"/>
                </a:solidFill>
                <a:latin typeface="Microsoft JhengHei"/>
              </a:rPr>
              <a:t>+0.09%  p=0.225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337560"/>
            <a:ext cx="2743200" cy="502920"/>
          </a:xfrm>
          <a:prstGeom prst="rect">
            <a:avLst/>
          </a:prstGeom>
          <a:solidFill>
            <a:srgbClr val="F4FBFA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44728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2B33"/>
                </a:solidFill>
                <a:latin typeface="Microsoft JhengHei"/>
              </a:rPr>
              <a:t>LightGCN → Multi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91840" y="3337560"/>
            <a:ext cx="2743200" cy="502920"/>
          </a:xfrm>
          <a:prstGeom prst="rect">
            <a:avLst/>
          </a:prstGeom>
          <a:solidFill>
            <a:srgbClr val="F4FBFA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91840" y="344728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A2B33"/>
                </a:solidFill>
                <a:latin typeface="Microsoft JhengHei"/>
              </a:rPr>
              <a:t>+0.50%  p=0.004 ★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3337560"/>
            <a:ext cx="2743200" cy="502920"/>
          </a:xfrm>
          <a:prstGeom prst="rect">
            <a:avLst/>
          </a:prstGeom>
          <a:solidFill>
            <a:srgbClr val="F4FBFA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5040" y="344728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A2B33"/>
                </a:solidFill>
                <a:latin typeface="Microsoft JhengHei"/>
              </a:rPr>
              <a:t>+0.72%  p=0.002 ★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78240" y="3337560"/>
            <a:ext cx="2743200" cy="502920"/>
          </a:xfrm>
          <a:prstGeom prst="rect">
            <a:avLst/>
          </a:prstGeom>
          <a:solidFill>
            <a:srgbClr val="F4FBFA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78240" y="344728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A2B33"/>
                </a:solidFill>
                <a:latin typeface="Microsoft JhengHei"/>
              </a:rPr>
              <a:t>+0.78%  p=0.004 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11480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28090"/>
                </a:solidFill>
                <a:latin typeface="Microsoft JhengHei"/>
              </a:rPr>
              <a:t>結論：模型差距在 R@10、NDCG、Hit 上具統計顯著性 (p&lt;0.05)，不是隨機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466344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A2B33"/>
                </a:solidFill>
                <a:latin typeface="Microsoft JhengHei"/>
              </a:rPr>
              <a:t>• ★ 表 p&lt;0.05 顯著（單尾 paired t-test）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1A2B33"/>
                </a:solidFill>
                <a:latin typeface="Microsoft JhengHei"/>
              </a:rPr>
              <a:t>• Recall@20 不顯著 — 因為差距太小，可能為隨機波動（誠實面對）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1A2B33"/>
                </a:solidFill>
                <a:latin typeface="Microsoft JhengHei"/>
              </a:rPr>
              <a:t>• n=3 樣本小、檢定力弱，但 p 值與絕對差距方向一致 → 結論可信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C7A80"/>
                </a:solidFill>
                <a:latin typeface="Microsoft JhengHei"/>
              </a:rPr>
              <a:t>圖書館 GNN 推薦系統  |  畢業專題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C7A80"/>
                </a:solidFill>
                <a:latin typeface="Microsoft JhengHei"/>
              </a:rPr>
              <a:t>14 /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28090"/>
                </a:solidFill>
                <a:latin typeface="Microsoft JhengHei"/>
              </a:rPr>
              <a:t>公平性分析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C7A80"/>
                </a:solidFill>
                <a:latin typeface="Microsoft JhengHei"/>
              </a:rPr>
              <a:t>模型對不同人口群體一視同仁嗎？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3810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13_fair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7360"/>
            <a:ext cx="11064240" cy="388368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21208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1A2B33"/>
                </a:solidFill>
                <a:latin typeface="Microsoft JhengHei"/>
              </a:rPr>
              <a:t>• 性別差距僅 0.0028（&lt; 1.1%）→ 性別公平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1A2B33"/>
                </a:solidFill>
                <a:latin typeface="Microsoft JhengHei"/>
              </a:rPr>
              <a:t>• 年齡有差距：18-24 大學生最高 (0.32)，&lt;18 兒童最低 (0.23)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1A2B33"/>
                </a:solidFill>
                <a:latin typeface="Microsoft JhengHei"/>
              </a:rPr>
              <a:t>• 原因：兒童借閱集中於繪本系列，下月借閱多元性較低 → 推薦較難精準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C7A80"/>
                </a:solidFill>
                <a:latin typeface="Microsoft JhengHei"/>
              </a:rPr>
              <a:t>圖書館 GNN 推薦系統  |  畢業專題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C7A80"/>
                </a:solidFill>
                <a:latin typeface="Microsoft JhengHei"/>
              </a:rPr>
              <a:t>15 /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28090"/>
                </a:solidFill>
                <a:latin typeface="Microsoft JhengHei"/>
              </a:rPr>
              <a:t>訓練曲線比較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C7A80"/>
                </a:solidFill>
                <a:latin typeface="Microsoft JhengHei"/>
              </a:rPr>
              <a:t>Train Loss 與 Validation Recall@20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3810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07_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7360"/>
            <a:ext cx="11064240" cy="3688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C7A80"/>
                </a:solidFill>
                <a:latin typeface="Microsoft JhengHei"/>
              </a:rPr>
              <a:t>觀察：BPR-MF 早期下降快但 val 改善停滯（過擬合）；LightGCN 系列 val Recall 持續上升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C7A80"/>
                </a:solidFill>
                <a:latin typeface="Microsoft JhengHei"/>
              </a:rPr>
              <a:t>圖書館 GNN 推薦系統  |  畢業專題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C7A80"/>
                </a:solidFill>
                <a:latin typeface="Microsoft JhengHei"/>
              </a:rPr>
              <a:t>16 /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28090"/>
                </a:solidFill>
                <a:latin typeface="Microsoft JhengHei"/>
              </a:rPr>
              <a:t>書籍 t-SNE 嵌入空間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C7A80"/>
                </a:solidFill>
                <a:latin typeface="Microsoft JhengHei"/>
              </a:rPr>
              <a:t>模型在無分類監督下，仍把同類書聚一起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3810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06_item_tsne_lightgcn_s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691640"/>
            <a:ext cx="7589520" cy="521853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1">
                <a:solidFill>
                  <a:srgbClr val="028090"/>
                </a:solidFill>
                <a:latin typeface="Microsoft JhengHei"/>
              </a:rPr>
              <a:t>→ 證明 GNN 學到了與圖書館分類體系相符的潛在語意空間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C7A80"/>
                </a:solidFill>
                <a:latin typeface="Microsoft JhengHei"/>
              </a:rPr>
              <a:t>圖書館 GNN 推薦系統  |  畢業專題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C7A80"/>
                </a:solidFill>
                <a:latin typeface="Microsoft JhengHei"/>
              </a:rPr>
              <a:t>17 /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28090"/>
                </a:solidFill>
                <a:latin typeface="Microsoft JhengHei"/>
              </a:rPr>
              <a:t>Demo 案例：英文兒童書讀者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C7A80"/>
                </a:solidFill>
                <a:latin typeface="Microsoft JhengHei"/>
              </a:rPr>
              <a:t>user_id = 853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3810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28090"/>
                </a:solidFill>
                <a:latin typeface="Microsoft JhengHei"/>
              </a:rPr>
              <a:t>借閱歷史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54864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A2B33"/>
                </a:solidFill>
                <a:latin typeface="Microsoft JhengHei"/>
              </a:rPr>
              <a:t>• Magic Tree House (Mary Pope Osborne)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1A2B33"/>
                </a:solidFill>
                <a:latin typeface="Microsoft JhengHei"/>
              </a:rPr>
              <a:t>• Toy Story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1A2B33"/>
                </a:solidFill>
                <a:latin typeface="Microsoft JhengHei"/>
              </a:rPr>
              <a:t>• Mittens (Lola M. Schaefer)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1A2B33"/>
                </a:solidFill>
                <a:latin typeface="Microsoft JhengHei"/>
              </a:rPr>
              <a:t>• Fox versus winter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1A2B33"/>
                </a:solidFill>
                <a:latin typeface="Microsoft JhengHei"/>
              </a:rPr>
              <a:t>• Dinosaurs before dark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2C39A"/>
                </a:solidFill>
                <a:latin typeface="Microsoft JhengHei"/>
              </a:rPr>
              <a:t>LightGCN 推薦 Top-5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54864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A2B33"/>
                </a:solidFill>
                <a:latin typeface="Microsoft JhengHei"/>
              </a:rPr>
              <a:t>• Fireborn (Aisling Fowler)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1A2B33"/>
                </a:solidFill>
                <a:latin typeface="Microsoft JhengHei"/>
              </a:rPr>
              <a:t>• The maid : a novel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1A2B33"/>
                </a:solidFill>
                <a:latin typeface="Microsoft JhengHei"/>
              </a:rPr>
              <a:t>• Finally seen (Kelly Yang)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1A2B33"/>
                </a:solidFill>
                <a:latin typeface="Microsoft JhengHei"/>
              </a:rPr>
              <a:t>• Lions &amp; liars (Kate Beasley)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1A2B33"/>
                </a:solidFill>
                <a:latin typeface="Microsoft JhengHei"/>
              </a:rPr>
              <a:t>• The 117-storey treehouse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486400"/>
            <a:ext cx="11064240" cy="640080"/>
          </a:xfrm>
          <a:prstGeom prst="roundRect">
            <a:avLst>
              <a:gd name="adj" fmla="val 8000"/>
            </a:avLst>
          </a:prstGeom>
          <a:solidFill>
            <a:srgbClr val="02C39A"/>
          </a:solidFill>
          <a:ln>
            <a:solidFill>
              <a:srgbClr val="02C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559552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1A2B33"/>
                </a:solidFill>
                <a:latin typeface="Microsoft JhengHei"/>
              </a:rPr>
              <a:t>推薦結果完美：全部英文 + 全部兒童書 → 模型抓到雙重特徵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C7A80"/>
                </a:solidFill>
                <a:latin typeface="Microsoft JhengHei"/>
              </a:rPr>
              <a:t>圖書館 GNN 推薦系統  |  畢業專題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C7A80"/>
                </a:solidFill>
                <a:latin typeface="Microsoft JhengHei"/>
              </a:rPr>
              <a:t>18 /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28090"/>
                </a:solidFill>
                <a:latin typeface="Microsoft JhengHei"/>
              </a:rPr>
              <a:t>商業價值（一）：直接應用 — 圖書館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C7A80"/>
                </a:solidFill>
                <a:latin typeface="Microsoft JhengHei"/>
              </a:rPr>
              <a:t>可量化的 KPI 改善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3810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5440680" cy="1554480"/>
          </a:xfrm>
          <a:prstGeom prst="roundRect">
            <a:avLst>
              <a:gd name="adj" fmla="val 8000"/>
            </a:avLst>
          </a:prstGeom>
          <a:solidFill>
            <a:srgbClr val="F4FBFA"/>
          </a:solidFill>
          <a:ln w="254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2B33"/>
                </a:solidFill>
                <a:latin typeface="Microsoft JhengHei"/>
              </a:rPr>
              <a:t>借閱量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73736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400" b="1" i="0">
                <a:solidFill>
                  <a:srgbClr val="028090"/>
                </a:solidFill>
                <a:latin typeface="Microsoft JhengHei"/>
              </a:rPr>
              <a:t>+10-20%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77440"/>
            <a:ext cx="50292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2B33"/>
                </a:solidFill>
                <a:latin typeface="Microsoft JhengHei"/>
              </a:rPr>
              <a:t>個人化推薦讓讀者多發現新書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79" y="1691640"/>
            <a:ext cx="5440680" cy="1554480"/>
          </a:xfrm>
          <a:prstGeom prst="roundRect">
            <a:avLst>
              <a:gd name="adj" fmla="val 8000"/>
            </a:avLst>
          </a:prstGeom>
          <a:solidFill>
            <a:srgbClr val="F4FBFA"/>
          </a:solidFill>
          <a:ln w="25400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79" y="18288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2B33"/>
                </a:solidFill>
                <a:latin typeface="Microsoft JhengHei"/>
              </a:rPr>
              <a:t>長尾書籍曝光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39" y="173736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400" b="1" i="0">
                <a:solidFill>
                  <a:srgbClr val="00A896"/>
                </a:solidFill>
                <a:latin typeface="Microsoft JhengHei"/>
              </a:rPr>
              <a:t>+50-100%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79" y="2377440"/>
            <a:ext cx="50292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2B33"/>
                </a:solidFill>
                <a:latin typeface="Microsoft JhengHei"/>
              </a:rPr>
              <a:t>BERT 版 Coverage 是 Popular 的 64 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83280"/>
            <a:ext cx="5440680" cy="1554480"/>
          </a:xfrm>
          <a:prstGeom prst="roundRect">
            <a:avLst>
              <a:gd name="adj" fmla="val 8000"/>
            </a:avLst>
          </a:prstGeom>
          <a:solidFill>
            <a:srgbClr val="F4FBFA"/>
          </a:solidFill>
          <a:ln w="25400">
            <a:solidFill>
              <a:srgbClr val="02C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5204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2B33"/>
                </a:solidFill>
                <a:latin typeface="Microsoft JhengHei"/>
              </a:rPr>
              <a:t>館員選書時間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42900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400" b="1" i="0">
                <a:solidFill>
                  <a:srgbClr val="02C39A"/>
                </a:solidFill>
                <a:latin typeface="Microsoft JhengHei"/>
              </a:rPr>
              <a:t>-30%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069080"/>
            <a:ext cx="50292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2B33"/>
                </a:solidFill>
                <a:latin typeface="Microsoft JhengHei"/>
              </a:rPr>
              <a:t>「常被一起借閱」資訊輔助採購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79" y="3383280"/>
            <a:ext cx="5440680" cy="1554480"/>
          </a:xfrm>
          <a:prstGeom prst="roundRect">
            <a:avLst>
              <a:gd name="adj" fmla="val 8000"/>
            </a:avLst>
          </a:prstGeom>
          <a:solidFill>
            <a:srgbClr val="F4FBFA"/>
          </a:solidFill>
          <a:ln w="254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79" y="35204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2B33"/>
                </a:solidFill>
                <a:latin typeface="Microsoft JhengHei"/>
              </a:rPr>
              <a:t>讀者回流率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39" y="342900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400" b="1" i="0">
                <a:solidFill>
                  <a:srgbClr val="028090"/>
                </a:solidFill>
                <a:latin typeface="Microsoft JhengHei"/>
              </a:rPr>
              <a:t>+5-15%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79" y="4069080"/>
            <a:ext cx="50292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2B33"/>
                </a:solidFill>
                <a:latin typeface="Microsoft JhengHei"/>
              </a:rPr>
              <a:t>推薦準確 → 來館頻率提升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21208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285232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JhengHei"/>
              </a:rPr>
              <a:t>市場規模 (TAM)：全台 600 公共館 + 150 大學館 × NT$3-10 萬/年訂閱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650992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F4FBFA"/>
                </a:solidFill>
                <a:latin typeface="Microsoft JhengHei"/>
              </a:rPr>
              <a:t>≈ NT$ 2 - 7 億 / 年（垂直市場，需求真實但規模有限）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C7A80"/>
                </a:solidFill>
                <a:latin typeface="Microsoft JhengHei"/>
              </a:rPr>
              <a:t>圖書館 GNN 推薦系統  |  畢業專題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C7A80"/>
                </a:solidFill>
                <a:latin typeface="Microsoft JhengHei"/>
              </a:rPr>
              <a:t>19 /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28090"/>
                </a:solidFill>
                <a:latin typeface="Microsoft JhengHei"/>
              </a:rPr>
              <a:t>商業價值（二）：技術可遷移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C7A80"/>
                </a:solidFill>
                <a:latin typeface="Microsoft JhengHei"/>
              </a:rPr>
              <a:t>同一套 LightGCN 架構可移植至千億級市場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3810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228600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產業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1828800"/>
            <a:ext cx="411480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19202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代表企業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40" y="1828800"/>
            <a:ext cx="228600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19202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推薦目標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35440" y="1828800"/>
            <a:ext cx="228600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0" y="19202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市場規模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286000"/>
            <a:ext cx="2286000" cy="457200"/>
          </a:xfrm>
          <a:prstGeom prst="rect">
            <a:avLst/>
          </a:prstGeom>
          <a:solidFill>
            <a:srgbClr val="F4FBFA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520" y="2450592"/>
            <a:ext cx="128016" cy="12801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3774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2B33"/>
                </a:solidFill>
                <a:latin typeface="Microsoft JhengHei"/>
              </a:rPr>
              <a:t>電商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40" y="2286000"/>
            <a:ext cx="4114800" cy="457200"/>
          </a:xfrm>
          <a:prstGeom prst="rect">
            <a:avLst/>
          </a:prstGeom>
          <a:solidFill>
            <a:srgbClr val="F4FBFA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34640" y="23774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A2B33"/>
                </a:solidFill>
                <a:latin typeface="Microsoft JhengHei"/>
              </a:rPr>
              <a:t>蝦皮、博客來、PChome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49440" y="2286000"/>
            <a:ext cx="2286000" cy="457200"/>
          </a:xfrm>
          <a:prstGeom prst="rect">
            <a:avLst/>
          </a:prstGeom>
          <a:solidFill>
            <a:srgbClr val="F4FBFA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0" y="23774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A2B33"/>
                </a:solidFill>
                <a:latin typeface="Microsoft JhengHei"/>
              </a:rPr>
              <a:t>商品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35440" y="2286000"/>
            <a:ext cx="2286000" cy="457200"/>
          </a:xfrm>
          <a:prstGeom prst="rect">
            <a:avLst/>
          </a:prstGeom>
          <a:solidFill>
            <a:srgbClr val="F4FBFA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23774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A2B33"/>
                </a:solidFill>
                <a:latin typeface="Microsoft JhengHei"/>
              </a:rPr>
              <a:t>千億 NTD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743200"/>
            <a:ext cx="2286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2907792"/>
            <a:ext cx="128016" cy="128016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28346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2B33"/>
                </a:solidFill>
                <a:latin typeface="Microsoft JhengHei"/>
              </a:rPr>
              <a:t>影音串流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34640" y="2743200"/>
            <a:ext cx="4114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34640" y="28346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A2B33"/>
                </a:solidFill>
                <a:latin typeface="Microsoft JhengHei"/>
              </a:rPr>
              <a:t>Netflix、KKTV、Disney+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49440" y="2743200"/>
            <a:ext cx="2286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0" y="28346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A2B33"/>
                </a:solidFill>
                <a:latin typeface="Microsoft JhengHei"/>
              </a:rPr>
              <a:t>影集電影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35440" y="2743200"/>
            <a:ext cx="2286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35440" y="28346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A2B33"/>
                </a:solidFill>
                <a:latin typeface="Microsoft JhengHei"/>
              </a:rPr>
              <a:t>百億 NTD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200400"/>
            <a:ext cx="2286000" cy="457200"/>
          </a:xfrm>
          <a:prstGeom prst="rect">
            <a:avLst/>
          </a:prstGeom>
          <a:solidFill>
            <a:srgbClr val="F4FBFA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1520" y="3364992"/>
            <a:ext cx="128016" cy="128016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" y="32918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2B33"/>
                </a:solidFill>
                <a:latin typeface="Microsoft JhengHei"/>
              </a:rPr>
              <a:t>音樂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834640" y="3200400"/>
            <a:ext cx="4114800" cy="457200"/>
          </a:xfrm>
          <a:prstGeom prst="rect">
            <a:avLst/>
          </a:prstGeom>
          <a:solidFill>
            <a:srgbClr val="F4FBFA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834640" y="32918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A2B33"/>
                </a:solidFill>
                <a:latin typeface="Microsoft JhengHei"/>
              </a:rPr>
              <a:t>KKBOX、Spotify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49440" y="3200400"/>
            <a:ext cx="2286000" cy="457200"/>
          </a:xfrm>
          <a:prstGeom prst="rect">
            <a:avLst/>
          </a:prstGeom>
          <a:solidFill>
            <a:srgbClr val="F4FBFA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49440" y="32918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A2B33"/>
                </a:solidFill>
                <a:latin typeface="Microsoft JhengHei"/>
              </a:rPr>
              <a:t>歌曲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235440" y="3200400"/>
            <a:ext cx="2286000" cy="457200"/>
          </a:xfrm>
          <a:prstGeom prst="rect">
            <a:avLst/>
          </a:prstGeom>
          <a:solidFill>
            <a:srgbClr val="F4FBFA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35440" y="32918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A2B33"/>
                </a:solidFill>
                <a:latin typeface="Microsoft JhengHei"/>
              </a:rPr>
              <a:t>十億 NTD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3657600"/>
            <a:ext cx="2286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31520" y="3822192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37490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2B33"/>
                </a:solidFill>
                <a:latin typeface="Microsoft JhengHei"/>
              </a:rPr>
              <a:t>線上學習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34640" y="3657600"/>
            <a:ext cx="4114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834640" y="37490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A2B33"/>
                </a:solidFill>
                <a:latin typeface="Microsoft JhengHei"/>
              </a:rPr>
              <a:t>Hahow、Coursera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949440" y="3657600"/>
            <a:ext cx="2286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49440" y="37490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A2B33"/>
                </a:solidFill>
                <a:latin typeface="Microsoft JhengHei"/>
              </a:rPr>
              <a:t>課程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235440" y="3657600"/>
            <a:ext cx="2286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35440" y="37490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A2B33"/>
                </a:solidFill>
                <a:latin typeface="Microsoft JhengHei"/>
              </a:rPr>
              <a:t>數十億 NTD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4114800"/>
            <a:ext cx="2286000" cy="457200"/>
          </a:xfrm>
          <a:prstGeom prst="rect">
            <a:avLst/>
          </a:prstGeom>
          <a:solidFill>
            <a:srgbClr val="F4FBFA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31520" y="4279392"/>
            <a:ext cx="128016" cy="12801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60120" y="42062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2B33"/>
                </a:solidFill>
                <a:latin typeface="Microsoft JhengHei"/>
              </a:rPr>
              <a:t>新聞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834640" y="4114800"/>
            <a:ext cx="4114800" cy="457200"/>
          </a:xfrm>
          <a:prstGeom prst="rect">
            <a:avLst/>
          </a:prstGeom>
          <a:solidFill>
            <a:srgbClr val="F4FBFA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834640" y="42062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A2B33"/>
                </a:solidFill>
                <a:latin typeface="Microsoft JhengHei"/>
              </a:rPr>
              <a:t>Yahoo、LineToday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949440" y="4114800"/>
            <a:ext cx="2286000" cy="457200"/>
          </a:xfrm>
          <a:prstGeom prst="rect">
            <a:avLst/>
          </a:prstGeom>
          <a:solidFill>
            <a:srgbClr val="F4FBFA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949440" y="42062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A2B33"/>
                </a:solidFill>
                <a:latin typeface="Microsoft JhengHei"/>
              </a:rPr>
              <a:t>文章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235440" y="4114800"/>
            <a:ext cx="2286000" cy="457200"/>
          </a:xfrm>
          <a:prstGeom prst="rect">
            <a:avLst/>
          </a:prstGeom>
          <a:solidFill>
            <a:srgbClr val="F4FBFA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235440" y="42062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A2B33"/>
                </a:solidFill>
                <a:latin typeface="Microsoft JhengHei"/>
              </a:rPr>
              <a:t>數十億 NTD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8640" y="4572000"/>
            <a:ext cx="2286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31520" y="4736592"/>
            <a:ext cx="128016" cy="128016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60120" y="46634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2B33"/>
                </a:solidFill>
                <a:latin typeface="Microsoft JhengHei"/>
              </a:rPr>
              <a:t>學術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834640" y="4572000"/>
            <a:ext cx="4114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834640" y="46634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A2B33"/>
                </a:solidFill>
                <a:latin typeface="Microsoft JhengHei"/>
              </a:rPr>
              <a:t>Google Scholar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949440" y="4572000"/>
            <a:ext cx="2286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949440" y="46634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A2B33"/>
                </a:solidFill>
                <a:latin typeface="Microsoft JhengHei"/>
              </a:rPr>
              <a:t>論文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235440" y="4572000"/>
            <a:ext cx="2286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F4F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235440" y="46634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A2B33"/>
                </a:solidFill>
                <a:latin typeface="Microsoft JhengHei"/>
              </a:rPr>
              <a:t>全球性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028090"/>
                </a:solidFill>
                <a:latin typeface="Microsoft JhengHei"/>
              </a:rPr>
              <a:t>技術棧 (PyTorch、PyG、FastAPI) 與業界推薦系統工程完全相同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6C7A80"/>
                </a:solidFill>
                <a:latin typeface="Microsoft JhengHei"/>
              </a:rPr>
              <a:t>Demo + 完整 pipeline 已具備 → 履歷上「我能做端對端 ML 系統」的最強證據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C7A80"/>
                </a:solidFill>
                <a:latin typeface="Microsoft JhengHei"/>
              </a:rPr>
              <a:t>圖書館 GNN 推薦系統  |  畢業專題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C7A80"/>
                </a:solidFill>
                <a:latin typeface="Microsoft JhengHei"/>
              </a:rPr>
              <a:t>20 /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28090"/>
                </a:solidFill>
                <a:latin typeface="Microsoft JhengHei"/>
              </a:rPr>
              <a:t>遇到的 11 個困難（部分）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C7A80"/>
                </a:solidFill>
                <a:latin typeface="Microsoft JhengHei"/>
              </a:rPr>
              <a:t>完整版見專題流程文件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3810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5440680" cy="960120"/>
          </a:xfrm>
          <a:prstGeom prst="roundRect">
            <a:avLst>
              <a:gd name="adj" fmla="val 8000"/>
            </a:avLst>
          </a:prstGeom>
          <a:solidFill>
            <a:srgbClr val="F4FBFA"/>
          </a:solidFill>
          <a:ln w="254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1920240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98424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8745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2B33"/>
                </a:solidFill>
                <a:latin typeface="Microsoft JhengHei"/>
              </a:rPr>
              <a:t>PyTorch + pyarrow DLL 衝突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402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C7A80"/>
                </a:solidFill>
                <a:latin typeface="Microsoft JhengHei"/>
              </a:rPr>
              <a:t>解：Windows 上必須先 import pandas 再 torch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783080"/>
            <a:ext cx="5440680" cy="960120"/>
          </a:xfrm>
          <a:prstGeom prst="roundRect">
            <a:avLst>
              <a:gd name="adj" fmla="val 8000"/>
            </a:avLst>
          </a:prstGeom>
          <a:solidFill>
            <a:srgbClr val="F4FBFA"/>
          </a:solidFill>
          <a:ln w="25400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263639" y="1920240"/>
            <a:ext cx="457200" cy="457200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39" y="198424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19" y="18745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2B33"/>
                </a:solidFill>
                <a:latin typeface="Microsoft JhengHei"/>
              </a:rPr>
              <a:t>Excel 欄位混型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19" y="22402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C7A80"/>
                </a:solidFill>
                <a:latin typeface="Microsoft JhengHei"/>
              </a:rPr>
              <a:t>解：'20uu'、空格混在 float 欄位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862072"/>
            <a:ext cx="5440680" cy="960120"/>
          </a:xfrm>
          <a:prstGeom prst="roundRect">
            <a:avLst>
              <a:gd name="adj" fmla="val 8000"/>
            </a:avLst>
          </a:prstGeom>
          <a:solidFill>
            <a:srgbClr val="F4FBFA"/>
          </a:solidFill>
          <a:ln w="25400">
            <a:solidFill>
              <a:srgbClr val="02C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85800" y="2999232"/>
            <a:ext cx="457200" cy="45720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06324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295351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2B33"/>
                </a:solidFill>
                <a:latin typeface="Microsoft JhengHei"/>
              </a:rPr>
              <a:t>資料稀疏 (0.05%)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319272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C7A80"/>
                </a:solidFill>
                <a:latin typeface="Microsoft JhengHei"/>
              </a:rPr>
              <a:t>解：K-core 過濾保留活躍 user/item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79" y="2862072"/>
            <a:ext cx="5440680" cy="960120"/>
          </a:xfrm>
          <a:prstGeom prst="roundRect">
            <a:avLst>
              <a:gd name="adj" fmla="val 8000"/>
            </a:avLst>
          </a:prstGeom>
          <a:solidFill>
            <a:srgbClr val="F4FBFA"/>
          </a:solidFill>
          <a:ln w="254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63639" y="2999232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39" y="306324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19" y="295351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2B33"/>
                </a:solidFill>
                <a:latin typeface="Microsoft JhengHei"/>
              </a:rPr>
              <a:t>Time-split 後冷啟動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19" y="3319272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C7A80"/>
                </a:solidFill>
                <a:latin typeface="Microsoft JhengHei"/>
              </a:rPr>
              <a:t>解：過濾未見過的 user/item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941063"/>
            <a:ext cx="5440680" cy="960120"/>
          </a:xfrm>
          <a:prstGeom prst="roundRect">
            <a:avLst>
              <a:gd name="adj" fmla="val 8000"/>
            </a:avLst>
          </a:prstGeom>
          <a:solidFill>
            <a:srgbClr val="F4FBFA"/>
          </a:solidFill>
          <a:ln w="25400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5800" y="4078223"/>
            <a:ext cx="457200" cy="457200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142231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4032503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2B33"/>
                </a:solidFill>
                <a:latin typeface="Microsoft JhengHei"/>
              </a:rPr>
              <a:t>PowerShell cp950 編碼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4398263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C7A80"/>
                </a:solidFill>
                <a:latin typeface="Microsoft JhengHei"/>
              </a:rPr>
              <a:t>解：PYTHONIOENCODING=utf-8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79" y="3941063"/>
            <a:ext cx="5440680" cy="960120"/>
          </a:xfrm>
          <a:prstGeom prst="roundRect">
            <a:avLst>
              <a:gd name="adj" fmla="val 8000"/>
            </a:avLst>
          </a:prstGeom>
          <a:solidFill>
            <a:srgbClr val="F4FBFA"/>
          </a:solidFill>
          <a:ln w="25400">
            <a:solidFill>
              <a:srgbClr val="02C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263639" y="4078223"/>
            <a:ext cx="457200" cy="45720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39" y="4142231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19" y="4032503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2B33"/>
                </a:solidFill>
                <a:latin typeface="Microsoft JhengHei"/>
              </a:rPr>
              <a:t>matplotlib 中文亂碼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19" y="4398263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C7A80"/>
                </a:solidFill>
                <a:latin typeface="Microsoft JhengHei"/>
              </a:rPr>
              <a:t>解：Microsoft JhengHei 字型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020056"/>
            <a:ext cx="5440680" cy="960120"/>
          </a:xfrm>
          <a:prstGeom prst="roundRect">
            <a:avLst>
              <a:gd name="adj" fmla="val 8000"/>
            </a:avLst>
          </a:prstGeom>
          <a:solidFill>
            <a:srgbClr val="F4FBFA"/>
          </a:solidFill>
          <a:ln w="254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85800" y="5157216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221224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25880" y="5111496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2B33"/>
                </a:solidFill>
                <a:latin typeface="Microsoft JhengHei"/>
              </a:rPr>
              <a:t>sklearn TSNE API 變動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25880" y="5477256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C7A80"/>
                </a:solidFill>
                <a:latin typeface="Microsoft JhengHei"/>
              </a:rPr>
              <a:t>解：n_iter → max_iter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26479" y="5020056"/>
            <a:ext cx="5440680" cy="960120"/>
          </a:xfrm>
          <a:prstGeom prst="roundRect">
            <a:avLst>
              <a:gd name="adj" fmla="val 8000"/>
            </a:avLst>
          </a:prstGeom>
          <a:solidFill>
            <a:srgbClr val="F4FBFA"/>
          </a:solidFill>
          <a:ln w="25400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263639" y="5157216"/>
            <a:ext cx="457200" cy="457200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39" y="5221224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03719" y="5111496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2B33"/>
                </a:solidFill>
                <a:latin typeface="Microsoft JhengHei"/>
              </a:rPr>
              <a:t>register_buffer 衝突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03719" y="5477256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C7A80"/>
                </a:solidFill>
                <a:latin typeface="Microsoft JhengHei"/>
              </a:rPr>
              <a:t>解：改用 placeholder + copy_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C7A80"/>
                </a:solidFill>
                <a:latin typeface="Microsoft JhengHei"/>
              </a:rPr>
              <a:t>圖書館 GNN 推薦系統  |  畢業專題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C7A80"/>
                </a:solidFill>
                <a:latin typeface="Microsoft JhengHei"/>
              </a:rPr>
              <a:t>21 /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28090"/>
                </a:solidFill>
                <a:latin typeface="Microsoft JhengHei"/>
              </a:rPr>
              <a:t>研究限制與未來工作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C7A80"/>
                </a:solidFill>
                <a:latin typeface="Microsoft JhengHei"/>
              </a:rPr>
              <a:t>誠實面對沒做到的部分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3810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28090"/>
                </a:solidFill>
                <a:latin typeface="Microsoft JhengHei"/>
              </a:rPr>
              <a:t>目前的限制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54864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0">
                <a:solidFill>
                  <a:srgbClr val="1A2B33"/>
                </a:solidFill>
                <a:latin typeface="Microsoft JhengHei"/>
              </a:rPr>
              <a:t>• 資料僅 2025 年一年（無跨年比較）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1A2B33"/>
                </a:solidFill>
                <a:latin typeface="Microsoft JhengHei"/>
              </a:rPr>
              <a:t>• 未做線上 A/B 測試（只有離線評估）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1A2B33"/>
                </a:solidFill>
                <a:latin typeface="Microsoft JhengHei"/>
              </a:rPr>
              <a:t>• 全新讀者無 train 資料時無法處理（需 fallback）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1A2B33"/>
                </a:solidFill>
                <a:latin typeface="Microsoft JhengHei"/>
              </a:rPr>
              <a:t>• Side-info 影響小，可能特徵設計不夠精緻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1A2B33"/>
                </a:solidFill>
                <a:latin typeface="Microsoft JhengHei"/>
              </a:rPr>
              <a:t>• 8GB GPU 限制了 embed_dim 上限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2C39A"/>
                </a:solidFill>
                <a:latin typeface="Microsoft JhengHei"/>
              </a:rPr>
              <a:t>未來工作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377440"/>
            <a:ext cx="54864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0">
                <a:solidFill>
                  <a:srgbClr val="1A2B33"/>
                </a:solidFill>
                <a:latin typeface="Microsoft JhengHei"/>
              </a:rPr>
              <a:t>• 用更新的 GNN：LightGCL、SimGCL（對比學習）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1A2B33"/>
                </a:solidFill>
                <a:latin typeface="Microsoft JhengHei"/>
              </a:rPr>
              <a:t>• 整合書籍封面（多模態推薦）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1A2B33"/>
                </a:solidFill>
                <a:latin typeface="Microsoft JhengHei"/>
              </a:rPr>
              <a:t>• 與圖書館合作做線上 A/B 測試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1A2B33"/>
                </a:solidFill>
                <a:latin typeface="Microsoft JhengHei"/>
              </a:rPr>
              <a:t>• 處理跨年資料、季節效應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1A2B33"/>
                </a:solidFill>
                <a:latin typeface="Microsoft JhengHei"/>
              </a:rPr>
              <a:t>• 部署到正式系統 + 認證 + REST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C7A80"/>
                </a:solidFill>
                <a:latin typeface="Microsoft JhengHei"/>
              </a:rPr>
              <a:t>圖書館 GNN 推薦系統  |  畢業專題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C7A80"/>
                </a:solidFill>
                <a:latin typeface="Microsoft JhengHei"/>
              </a:rPr>
              <a:t>22 /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28090"/>
                </a:solidFill>
                <a:latin typeface="Microsoft JhengHei"/>
              </a:rPr>
              <a:t>結論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C7A80"/>
                </a:solidFill>
                <a:latin typeface="Microsoft JhengHei"/>
              </a:rPr>
              <a:t>Answers to Research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3810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F4FBFA"/>
          </a:solidFill>
          <a:ln w="254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93392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28090"/>
                </a:solidFill>
                <a:latin typeface="Microsoft JhengHei"/>
              </a:rPr>
              <a:t>RQ1: GNN 能否勝過傳統法？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231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A2B33"/>
                </a:solidFill>
                <a:latin typeface="Microsoft JhengHei"/>
              </a:rPr>
              <a:t>✓  LightGCN 全面贏過 BPR-MF（R@10 +4.1%、NDCG +4.4%）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15468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F4FBFA"/>
          </a:solidFill>
          <a:ln w="25400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319272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0A896"/>
                </a:solidFill>
                <a:latin typeface="Microsoft JhengHei"/>
              </a:rPr>
              <a:t>RQ2: 加側資訊有幫助嗎？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490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A2B33"/>
                </a:solidFill>
                <a:latin typeface="Microsoft JhengHei"/>
              </a:rPr>
              <a:t>✓  NDCG 改善 2.4%（排序品質提升，召回不變）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48056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F4FBFA"/>
          </a:solidFill>
          <a:ln w="25400">
            <a:solidFill>
              <a:srgbClr val="02C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45152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2C39A"/>
                </a:solidFill>
                <a:latin typeface="Microsoft JhengHei"/>
              </a:rPr>
              <a:t>RQ3: 預約邊有幫助嗎？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0749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A2B33"/>
                </a:solidFill>
                <a:latin typeface="Microsoft JhengHei"/>
              </a:rPr>
              <a:t>✓  LightGCN-Multi 為最強模型，全部指標再提升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1">
                <a:solidFill>
                  <a:srgbClr val="6C7A80"/>
                </a:solidFill>
                <a:latin typeface="Microsoft JhengHei"/>
              </a:rPr>
              <a:t>三大貢獻：首次套用 LightGCN 至台灣市立圖書館  ‧  提出兩個有效擴充版  ‧  完整可重現 + 互動 Demo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C7A80"/>
                </a:solidFill>
                <a:latin typeface="Microsoft JhengHei"/>
              </a:rPr>
              <a:t>圖書館 GNN 推薦系統  |  畢業專題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C7A80"/>
                </a:solidFill>
                <a:latin typeface="Microsoft JhengHei"/>
              </a:rPr>
              <a:t>23 /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Microsoft JhengHe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 i="1">
                <a:solidFill>
                  <a:srgbClr val="02C39A"/>
                </a:solidFill>
                <a:latin typeface="Microsoft JhengHei"/>
              </a:rPr>
              <a:t>歡迎提問與討論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F4FBFA"/>
                </a:solidFill>
                <a:latin typeface="Microsoft JhengHei"/>
              </a:rPr>
              <a:t>GitHub: github.com/[your-id]/library_gnn_recsys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1">
                <a:solidFill>
                  <a:srgbClr val="F4FBFA"/>
                </a:solidFill>
                <a:latin typeface="Microsoft JhengHei"/>
              </a:rPr>
              <a:t>圖書館 GNN 推薦系統  |  畢業專題  |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4FBFA"/>
                </a:solidFill>
                <a:latin typeface="Microsoft JhengHei"/>
              </a:rPr>
              <a:t>圖書館 GNN 推薦系統  |  畢業專題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F4FBFA"/>
                </a:solidFill>
                <a:latin typeface="Microsoft JhengHei"/>
              </a:rPr>
              <a:t>24 / 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